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One line: DiscOS turns the raw signal of customer conversations into intelligence you can actually trust, where every claim traces back to the exact thing a person said. Hold the deck up as the frame, then bounce to the app to show a real Ask answer with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tension. Organisations are data-rich and insight-poor, and generative AI made it worse by making unverified output look finished. The opportunity is the trust gap. This is the 'why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pain your audience feels every week. Read two of the four out loud, the untraceable claim and AI inventing findings tend to land hardest. Optional app cue: show a messy evidence list before they see how DiscOS structures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and let it sit. The real cost is not wasted time, it is decisions that cannot be defended and trust that leaks at every team boundary. This is the emotional low point before the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hero line. Pause after 'Traceability is the product.' Then the payoff: the output stops being an opinion and becomes evidence, because you can walk any statement back to the ground truth. Strong moment to switch to the app and show a cited Ask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then say the key thing: the arrows run both ways. You can start from any output and trace it back down to the exact sentence. That round trip is what nobody else gives you. App cue: click a citation in a generated document and land on the source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separates DiscOS from a generic AI summariser. AI is an assistive first pass, never unattended ground truth. The human review state is the trust boundary, and it is exactly what enterprise buyers want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Tailor this live. On each call, lead with the row that matches who is in the room, then note the others to show this travels across the whole product org. The shared thread: every one of them has to defend a decision, and DiscOS gives them the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outcome in their language. This is the sentence to repeat at the end of the call: better decisions, made faster, that hold up under scrutiny, because you can show your work all the way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ambition: become the layer of trust between an organisation's raw signal and everything it produces. Then hand to the live app and let the product carry the rest of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GETDISCOS.COM</a:t>
            </a:r>
            <a:endParaRPr lang="en-US" sz="1150" dirty="0"/>
          </a:p>
        </p:txBody>
      </p:sp>
      <p:sp>
        <p:nvSpPr>
          <p:cNvPr id="3" name="Text 1"/>
          <p:cNvSpPr/>
          <p:nvPr/>
        </p:nvSpPr>
        <p:spPr>
          <a:xfrm>
            <a:off x="548640" y="868680"/>
            <a:ext cx="73152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DiscOS</a:t>
            </a:r>
            <a:endParaRPr lang="en-US" sz="5400" dirty="0"/>
          </a:p>
        </p:txBody>
      </p:sp>
      <p:sp>
        <p:nvSpPr>
          <p:cNvPr id="4" name="Text 2"/>
          <p:cNvSpPr/>
          <p:nvPr/>
        </p:nvSpPr>
        <p:spPr>
          <a:xfrm>
            <a:off x="548640" y="1874520"/>
            <a:ext cx="8046720" cy="1005840"/>
          </a:xfrm>
          <a:prstGeom prst="rect">
            <a:avLst/>
          </a:prstGeom>
          <a:noFill/>
          <a:ln/>
        </p:spPr>
        <p:txBody>
          <a:bodyPr wrap="square" lIns="0" tIns="0" rIns="0" bIns="0" rtlCol="0" anchor="ctr"/>
          <a:lstStyle/>
          <a:p>
            <a:pPr indent="0" marL="0">
              <a:lnSpc>
                <a:spcPct val="104000"/>
              </a:lnSpc>
              <a:buNone/>
            </a:pPr>
            <a:r>
              <a:rPr lang="en-US" sz="3000" dirty="0">
                <a:solidFill>
                  <a:srgbClr val="FFFFFF"/>
                </a:solidFill>
                <a:latin typeface="Cambria" pitchFamily="34" charset="0"/>
                <a:ea typeface="Cambria" pitchFamily="34" charset="-122"/>
                <a:cs typeface="Cambria" pitchFamily="34" charset="-120"/>
              </a:rPr>
              <a:t>Turn raw signal into trusted, traceable intelligence.</a:t>
            </a:r>
            <a:endParaRPr lang="en-US" sz="3000" dirty="0"/>
          </a:p>
        </p:txBody>
      </p:sp>
      <p:sp>
        <p:nvSpPr>
          <p:cNvPr id="5" name="Text 3"/>
          <p:cNvSpPr/>
          <p:nvPr/>
        </p:nvSpPr>
        <p:spPr>
          <a:xfrm>
            <a:off x="566928" y="3063240"/>
            <a:ext cx="7680960" cy="731520"/>
          </a:xfrm>
          <a:prstGeom prst="rect">
            <a:avLst/>
          </a:prstGeom>
          <a:noFill/>
          <a:ln/>
        </p:spPr>
        <p:txBody>
          <a:bodyPr wrap="square" lIns="0" tIns="0" rIns="0" bIns="0" rtlCol="0" anchor="ctr"/>
          <a:lstStyle/>
          <a:p>
            <a:pPr indent="0" marL="0">
              <a:lnSpc>
                <a:spcPct val="110000"/>
              </a:lnSpc>
              <a:buNone/>
            </a:pPr>
            <a:r>
              <a:rPr lang="en-US" sz="1500" dirty="0">
                <a:solidFill>
                  <a:srgbClr val="C8CBE8"/>
                </a:solidFill>
                <a:latin typeface="Calibri" pitchFamily="34" charset="0"/>
                <a:ea typeface="Calibri" pitchFamily="34" charset="-122"/>
                <a:cs typeface="Calibri" pitchFamily="34" charset="-120"/>
              </a:rPr>
              <a:t>For discovery, design, product, and marketing teams who need to build on what customers actually said.</a:t>
            </a:r>
            <a:endParaRPr lang="en-US" sz="1500" dirty="0"/>
          </a:p>
        </p:txBody>
      </p:sp>
      <p:sp>
        <p:nvSpPr>
          <p:cNvPr id="6" name="Shape 4"/>
          <p:cNvSpPr/>
          <p:nvPr/>
        </p:nvSpPr>
        <p:spPr>
          <a:xfrm>
            <a:off x="1060704" y="4389120"/>
            <a:ext cx="621792" cy="0"/>
          </a:xfrm>
          <a:prstGeom prst="line">
            <a:avLst/>
          </a:prstGeom>
          <a:noFill/>
          <a:ln w="19050">
            <a:solidFill>
              <a:srgbClr val="3A3C66"/>
            </a:solidFill>
            <a:prstDash val="solid"/>
          </a:ln>
        </p:spPr>
      </p:sp>
      <p:sp>
        <p:nvSpPr>
          <p:cNvPr id="7" name="Shape 5"/>
          <p:cNvSpPr/>
          <p:nvPr/>
        </p:nvSpPr>
        <p:spPr>
          <a:xfrm>
            <a:off x="2139696" y="4389120"/>
            <a:ext cx="621792" cy="0"/>
          </a:xfrm>
          <a:prstGeom prst="line">
            <a:avLst/>
          </a:prstGeom>
          <a:noFill/>
          <a:ln w="19050">
            <a:solidFill>
              <a:srgbClr val="3A3C66"/>
            </a:solidFill>
            <a:prstDash val="solid"/>
          </a:ln>
        </p:spPr>
      </p:sp>
      <p:sp>
        <p:nvSpPr>
          <p:cNvPr id="8" name="Shape 6"/>
          <p:cNvSpPr/>
          <p:nvPr/>
        </p:nvSpPr>
        <p:spPr>
          <a:xfrm>
            <a:off x="3218688" y="4389120"/>
            <a:ext cx="621792" cy="0"/>
          </a:xfrm>
          <a:prstGeom prst="line">
            <a:avLst/>
          </a:prstGeom>
          <a:noFill/>
          <a:ln w="19050">
            <a:solidFill>
              <a:srgbClr val="3A3C66"/>
            </a:solidFill>
            <a:prstDash val="solid"/>
          </a:ln>
        </p:spPr>
      </p:sp>
      <p:sp>
        <p:nvSpPr>
          <p:cNvPr id="9" name="Shape 7"/>
          <p:cNvSpPr/>
          <p:nvPr/>
        </p:nvSpPr>
        <p:spPr>
          <a:xfrm>
            <a:off x="4297680" y="4389120"/>
            <a:ext cx="621792" cy="0"/>
          </a:xfrm>
          <a:prstGeom prst="line">
            <a:avLst/>
          </a:prstGeom>
          <a:noFill/>
          <a:ln w="19050">
            <a:solidFill>
              <a:srgbClr val="3A3C66"/>
            </a:solidFill>
            <a:prstDash val="solid"/>
          </a:ln>
        </p:spPr>
      </p:sp>
      <p:sp>
        <p:nvSpPr>
          <p:cNvPr id="10" name="Shape 8"/>
          <p:cNvSpPr/>
          <p:nvPr/>
        </p:nvSpPr>
        <p:spPr>
          <a:xfrm>
            <a:off x="603504" y="4160520"/>
            <a:ext cx="457200" cy="457200"/>
          </a:xfrm>
          <a:prstGeom prst="ellipse">
            <a:avLst/>
          </a:prstGeom>
          <a:solidFill>
            <a:srgbClr val="1E1F44"/>
          </a:solidFill>
          <a:ln/>
        </p:spPr>
      </p:sp>
      <p:pic>
        <p:nvPicPr>
          <p:cNvPr id="11" name="Image 0" descr="preencoded.png">    </p:cNvPr>
          <p:cNvPicPr>
            <a:picLocks noChangeAspect="1"/>
          </p:cNvPicPr>
          <p:nvPr/>
        </p:nvPicPr>
        <p:blipFill>
          <a:blip r:embed="rId1"/>
          <a:stretch>
            <a:fillRect/>
          </a:stretch>
        </p:blipFill>
        <p:spPr>
          <a:xfrm>
            <a:off x="731520" y="4288536"/>
            <a:ext cx="201168" cy="201168"/>
          </a:xfrm>
          <a:prstGeom prst="rect">
            <a:avLst/>
          </a:prstGeom>
        </p:spPr>
      </p:pic>
      <p:sp>
        <p:nvSpPr>
          <p:cNvPr id="12" name="Shape 9"/>
          <p:cNvSpPr/>
          <p:nvPr/>
        </p:nvSpPr>
        <p:spPr>
          <a:xfrm>
            <a:off x="1682496" y="4160520"/>
            <a:ext cx="457200" cy="457200"/>
          </a:xfrm>
          <a:prstGeom prst="ellipse">
            <a:avLst/>
          </a:prstGeom>
          <a:solidFill>
            <a:srgbClr val="1E1F44"/>
          </a:solidFill>
          <a:ln/>
        </p:spPr>
      </p:sp>
      <p:pic>
        <p:nvPicPr>
          <p:cNvPr id="13" name="Image 1" descr="preencoded.png">    </p:cNvPr>
          <p:cNvPicPr>
            <a:picLocks noChangeAspect="1"/>
          </p:cNvPicPr>
          <p:nvPr/>
        </p:nvPicPr>
        <p:blipFill>
          <a:blip r:embed="rId2"/>
          <a:stretch>
            <a:fillRect/>
          </a:stretch>
        </p:blipFill>
        <p:spPr>
          <a:xfrm>
            <a:off x="1810512" y="4288536"/>
            <a:ext cx="201168" cy="201168"/>
          </a:xfrm>
          <a:prstGeom prst="rect">
            <a:avLst/>
          </a:prstGeom>
        </p:spPr>
      </p:pic>
      <p:sp>
        <p:nvSpPr>
          <p:cNvPr id="14" name="Shape 10"/>
          <p:cNvSpPr/>
          <p:nvPr/>
        </p:nvSpPr>
        <p:spPr>
          <a:xfrm>
            <a:off x="2761488" y="4160520"/>
            <a:ext cx="457200" cy="457200"/>
          </a:xfrm>
          <a:prstGeom prst="ellipse">
            <a:avLst/>
          </a:prstGeom>
          <a:solidFill>
            <a:srgbClr val="1E1F44"/>
          </a:solidFill>
          <a:ln/>
        </p:spPr>
      </p:sp>
      <p:pic>
        <p:nvPicPr>
          <p:cNvPr id="15" name="Image 2" descr="preencoded.png">    </p:cNvPr>
          <p:cNvPicPr>
            <a:picLocks noChangeAspect="1"/>
          </p:cNvPicPr>
          <p:nvPr/>
        </p:nvPicPr>
        <p:blipFill>
          <a:blip r:embed="rId3"/>
          <a:stretch>
            <a:fillRect/>
          </a:stretch>
        </p:blipFill>
        <p:spPr>
          <a:xfrm>
            <a:off x="2889504" y="4288536"/>
            <a:ext cx="201168" cy="201168"/>
          </a:xfrm>
          <a:prstGeom prst="rect">
            <a:avLst/>
          </a:prstGeom>
        </p:spPr>
      </p:pic>
      <p:sp>
        <p:nvSpPr>
          <p:cNvPr id="16" name="Shape 11"/>
          <p:cNvSpPr/>
          <p:nvPr/>
        </p:nvSpPr>
        <p:spPr>
          <a:xfrm>
            <a:off x="3840480" y="4160520"/>
            <a:ext cx="457200" cy="457200"/>
          </a:xfrm>
          <a:prstGeom prst="ellipse">
            <a:avLst/>
          </a:prstGeom>
          <a:solidFill>
            <a:srgbClr val="1E1F44"/>
          </a:solidFill>
          <a:ln/>
        </p:spPr>
      </p:sp>
      <p:pic>
        <p:nvPicPr>
          <p:cNvPr id="17" name="Image 3" descr="preencoded.png">    </p:cNvPr>
          <p:cNvPicPr>
            <a:picLocks noChangeAspect="1"/>
          </p:cNvPicPr>
          <p:nvPr/>
        </p:nvPicPr>
        <p:blipFill>
          <a:blip r:embed="rId4"/>
          <a:stretch>
            <a:fillRect/>
          </a:stretch>
        </p:blipFill>
        <p:spPr>
          <a:xfrm>
            <a:off x="3968496" y="4288536"/>
            <a:ext cx="201168" cy="201168"/>
          </a:xfrm>
          <a:prstGeom prst="rect">
            <a:avLst/>
          </a:prstGeom>
        </p:spPr>
      </p:pic>
      <p:sp>
        <p:nvSpPr>
          <p:cNvPr id="18" name="Shape 12"/>
          <p:cNvSpPr/>
          <p:nvPr/>
        </p:nvSpPr>
        <p:spPr>
          <a:xfrm>
            <a:off x="4919472" y="4160520"/>
            <a:ext cx="457200" cy="457200"/>
          </a:xfrm>
          <a:prstGeom prst="ellipse">
            <a:avLst/>
          </a:prstGeom>
          <a:solidFill>
            <a:srgbClr val="1E1F44"/>
          </a:solidFill>
          <a:ln/>
        </p:spPr>
      </p:sp>
      <p:pic>
        <p:nvPicPr>
          <p:cNvPr id="19" name="Image 4" descr="preencoded.png">    </p:cNvPr>
          <p:cNvPicPr>
            <a:picLocks noChangeAspect="1"/>
          </p:cNvPicPr>
          <p:nvPr/>
        </p:nvPicPr>
        <p:blipFill>
          <a:blip r:embed="rId5"/>
          <a:stretch>
            <a:fillRect/>
          </a:stretch>
        </p:blipFill>
        <p:spPr>
          <a:xfrm>
            <a:off x="5047488" y="4288536"/>
            <a:ext cx="201168" cy="201168"/>
          </a:xfrm>
          <a:prstGeom prst="rect">
            <a:avLst/>
          </a:prstGeom>
        </p:spPr>
      </p:pic>
      <p:sp>
        <p:nvSpPr>
          <p:cNvPr id="20" name="Text 13"/>
          <p:cNvSpPr/>
          <p:nvPr/>
        </p:nvSpPr>
        <p:spPr>
          <a:xfrm>
            <a:off x="6044184" y="4270248"/>
            <a:ext cx="2377440" cy="274320"/>
          </a:xfrm>
          <a:prstGeom prst="rect">
            <a:avLst/>
          </a:prstGeom>
          <a:noFill/>
          <a:ln/>
        </p:spPr>
        <p:txBody>
          <a:bodyPr wrap="square" lIns="0" tIns="0" rIns="0" bIns="0" rtlCol="0" anchor="ctr"/>
          <a:lstStyle/>
          <a:p>
            <a:pPr indent="0" marL="0">
              <a:buNone/>
            </a:pPr>
            <a:r>
              <a:rPr lang="en-US" sz="1150" i="1" dirty="0">
                <a:solidFill>
                  <a:srgbClr val="C8CBE8"/>
                </a:solidFill>
                <a:latin typeface="Calibri" pitchFamily="34" charset="0"/>
                <a:ea typeface="Calibri" pitchFamily="34" charset="-122"/>
                <a:cs typeface="Calibri" pitchFamily="34" charset="-120"/>
              </a:rPr>
              <a:t>traceable, end to end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WHY NOW</a:t>
            </a:r>
            <a:endParaRPr lang="en-US" sz="1150" dirty="0"/>
          </a:p>
        </p:txBody>
      </p:sp>
      <p:sp>
        <p:nvSpPr>
          <p:cNvPr id="3" name="Text 1"/>
          <p:cNvSpPr/>
          <p:nvPr/>
        </p:nvSpPr>
        <p:spPr>
          <a:xfrm>
            <a:off x="548640" y="841248"/>
            <a:ext cx="8229600" cy="73152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Speed went up. Trust went down.</a:t>
            </a:r>
            <a:endParaRPr lang="en-US" sz="3300" dirty="0"/>
          </a:p>
        </p:txBody>
      </p:sp>
      <p:sp>
        <p:nvSpPr>
          <p:cNvPr id="4" name="Shape 2"/>
          <p:cNvSpPr/>
          <p:nvPr/>
        </p:nvSpPr>
        <p:spPr>
          <a:xfrm>
            <a:off x="548640" y="1828800"/>
            <a:ext cx="3886200" cy="1874520"/>
          </a:xfrm>
          <a:prstGeom prst="roundRect">
            <a:avLst>
              <a:gd name="adj" fmla="val 4878"/>
            </a:avLst>
          </a:prstGeom>
          <a:solidFill>
            <a:srgbClr val="1E1F44"/>
          </a:solidFill>
          <a:ln/>
          <a:effectLst>
            <a:outerShdw sx="100000" sy="100000" kx="0" ky="0" algn="bl" rotWithShape="0" blurRad="114300" dist="38100" dir="5400000">
              <a:srgbClr val="1A1B36">
                <a:alpha val="14000"/>
              </a:srgbClr>
            </a:outerShdw>
          </a:effectLst>
        </p:spPr>
      </p:sp>
      <p:sp>
        <p:nvSpPr>
          <p:cNvPr id="5" name="Shape 3"/>
          <p:cNvSpPr/>
          <p:nvPr/>
        </p:nvSpPr>
        <p:spPr>
          <a:xfrm>
            <a:off x="822960" y="2103120"/>
            <a:ext cx="640080" cy="640080"/>
          </a:xfrm>
          <a:prstGeom prst="ellipse">
            <a:avLst/>
          </a:prstGeom>
          <a:solidFill>
            <a:srgbClr val="6C5CE7"/>
          </a:solidFill>
          <a:ln/>
        </p:spPr>
      </p:sp>
      <p:pic>
        <p:nvPicPr>
          <p:cNvPr id="6" name="Image 0" descr="preencoded.png">    </p:cNvPr>
          <p:cNvPicPr>
            <a:picLocks noChangeAspect="1"/>
          </p:cNvPicPr>
          <p:nvPr/>
        </p:nvPicPr>
        <p:blipFill>
          <a:blip r:embed="rId1"/>
          <a:stretch>
            <a:fillRect/>
          </a:stretch>
        </p:blipFill>
        <p:spPr>
          <a:xfrm>
            <a:off x="1060704" y="2340864"/>
            <a:ext cx="164592" cy="164592"/>
          </a:xfrm>
          <a:prstGeom prst="rect">
            <a:avLst/>
          </a:prstGeom>
        </p:spPr>
      </p:pic>
      <p:sp>
        <p:nvSpPr>
          <p:cNvPr id="7" name="Text 4"/>
          <p:cNvSpPr/>
          <p:nvPr/>
        </p:nvSpPr>
        <p:spPr>
          <a:xfrm>
            <a:off x="1645920" y="2121408"/>
            <a:ext cx="2606040" cy="5029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Unstructured truth, unused</a:t>
            </a:r>
            <a:endParaRPr lang="en-US" sz="1550" dirty="0"/>
          </a:p>
        </p:txBody>
      </p:sp>
      <p:sp>
        <p:nvSpPr>
          <p:cNvPr id="8" name="Text 5"/>
          <p:cNvSpPr/>
          <p:nvPr/>
        </p:nvSpPr>
        <p:spPr>
          <a:xfrm>
            <a:off x="841248" y="2743200"/>
            <a:ext cx="3291840" cy="868680"/>
          </a:xfrm>
          <a:prstGeom prst="rect">
            <a:avLst/>
          </a:prstGeom>
          <a:noFill/>
          <a:ln/>
        </p:spPr>
        <p:txBody>
          <a:bodyPr wrap="square" lIns="0" tIns="0" rIns="0" bIns="0" rtlCol="0" anchor="ctr"/>
          <a:lstStyle/>
          <a:p>
            <a:pPr indent="0" marL="0">
              <a:lnSpc>
                <a:spcPct val="108000"/>
              </a:lnSpc>
              <a:buNone/>
            </a:pPr>
            <a:r>
              <a:rPr lang="en-US" sz="1250" dirty="0">
                <a:solidFill>
                  <a:srgbClr val="C8CBE8"/>
                </a:solidFill>
                <a:latin typeface="Calibri" pitchFamily="34" charset="0"/>
                <a:ea typeface="Calibri" pitchFamily="34" charset="-122"/>
                <a:cs typeface="Calibri" pitchFamily="34" charset="-120"/>
              </a:rPr>
              <a:t>Every team sits on a pile of calls, interviews, and documents. The things real people actually said. Most of it is never used well.</a:t>
            </a:r>
            <a:endParaRPr lang="en-US" sz="1250" dirty="0"/>
          </a:p>
        </p:txBody>
      </p:sp>
      <p:sp>
        <p:nvSpPr>
          <p:cNvPr id="9" name="Shape 6"/>
          <p:cNvSpPr/>
          <p:nvPr/>
        </p:nvSpPr>
        <p:spPr>
          <a:xfrm>
            <a:off x="4709160" y="1828800"/>
            <a:ext cx="3886200" cy="1874520"/>
          </a:xfrm>
          <a:prstGeom prst="roundRect">
            <a:avLst>
              <a:gd name="adj" fmla="val 4878"/>
            </a:avLst>
          </a:prstGeom>
          <a:solidFill>
            <a:srgbClr val="1E1F44"/>
          </a:solidFill>
          <a:ln/>
          <a:effectLst>
            <a:outerShdw sx="100000" sy="100000" kx="0" ky="0" algn="bl" rotWithShape="0" blurRad="114300" dist="38100" dir="5400000">
              <a:srgbClr val="1A1B36">
                <a:alpha val="14000"/>
              </a:srgbClr>
            </a:outerShdw>
          </a:effectLst>
        </p:spPr>
      </p:sp>
      <p:sp>
        <p:nvSpPr>
          <p:cNvPr id="10" name="Shape 7"/>
          <p:cNvSpPr/>
          <p:nvPr/>
        </p:nvSpPr>
        <p:spPr>
          <a:xfrm>
            <a:off x="4983480" y="2103120"/>
            <a:ext cx="640080" cy="640080"/>
          </a:xfrm>
          <a:prstGeom prst="ellipse">
            <a:avLst/>
          </a:prstGeom>
          <a:solidFill>
            <a:srgbClr val="6C5CE7"/>
          </a:solidFill>
          <a:ln/>
        </p:spPr>
      </p:sp>
      <p:pic>
        <p:nvPicPr>
          <p:cNvPr id="11" name="Image 1" descr="preencoded.png">    </p:cNvPr>
          <p:cNvPicPr>
            <a:picLocks noChangeAspect="1"/>
          </p:cNvPicPr>
          <p:nvPr/>
        </p:nvPicPr>
        <p:blipFill>
          <a:blip r:embed="rId2"/>
          <a:stretch>
            <a:fillRect/>
          </a:stretch>
        </p:blipFill>
        <p:spPr>
          <a:xfrm>
            <a:off x="5221224" y="2340864"/>
            <a:ext cx="164592" cy="164592"/>
          </a:xfrm>
          <a:prstGeom prst="rect">
            <a:avLst/>
          </a:prstGeom>
        </p:spPr>
      </p:pic>
      <p:sp>
        <p:nvSpPr>
          <p:cNvPr id="12" name="Text 8"/>
          <p:cNvSpPr/>
          <p:nvPr/>
        </p:nvSpPr>
        <p:spPr>
          <a:xfrm>
            <a:off x="5806440" y="2121408"/>
            <a:ext cx="2606040" cy="5029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Polished output, unverified</a:t>
            </a:r>
            <a:endParaRPr lang="en-US" sz="1550" dirty="0"/>
          </a:p>
        </p:txBody>
      </p:sp>
      <p:sp>
        <p:nvSpPr>
          <p:cNvPr id="13" name="Text 9"/>
          <p:cNvSpPr/>
          <p:nvPr/>
        </p:nvSpPr>
        <p:spPr>
          <a:xfrm>
            <a:off x="5001768" y="2743200"/>
            <a:ext cx="3291840" cy="868680"/>
          </a:xfrm>
          <a:prstGeom prst="rect">
            <a:avLst/>
          </a:prstGeom>
          <a:noFill/>
          <a:ln/>
        </p:spPr>
        <p:txBody>
          <a:bodyPr wrap="square" lIns="0" tIns="0" rIns="0" bIns="0" rtlCol="0" anchor="ctr"/>
          <a:lstStyle/>
          <a:p>
            <a:pPr indent="0" marL="0">
              <a:lnSpc>
                <a:spcPct val="108000"/>
              </a:lnSpc>
              <a:buNone/>
            </a:pPr>
            <a:r>
              <a:rPr lang="en-US" sz="1250" dirty="0">
                <a:solidFill>
                  <a:srgbClr val="C8CBE8"/>
                </a:solidFill>
                <a:latin typeface="Calibri" pitchFamily="34" charset="0"/>
                <a:ea typeface="Calibri" pitchFamily="34" charset="-122"/>
                <a:cs typeface="Calibri" pitchFamily="34" charset="-120"/>
              </a:rPr>
              <a:t>A new wave of AI produces confident, finished-looking output in seconds. It cannot tell you whether any of it is true.</a:t>
            </a:r>
            <a:endParaRPr lang="en-US" sz="1250" dirty="0"/>
          </a:p>
        </p:txBody>
      </p:sp>
      <p:sp>
        <p:nvSpPr>
          <p:cNvPr id="14" name="Text 10"/>
          <p:cNvSpPr/>
          <p:nvPr/>
        </p:nvSpPr>
        <p:spPr>
          <a:xfrm>
            <a:off x="548640" y="4114800"/>
            <a:ext cx="8229600" cy="457200"/>
          </a:xfrm>
          <a:prstGeom prst="rect">
            <a:avLst/>
          </a:prstGeom>
          <a:noFill/>
          <a:ln/>
        </p:spPr>
        <p:txBody>
          <a:bodyPr wrap="square" lIns="0" tIns="0" rIns="0" bIns="0" rtlCol="0" anchor="ctr"/>
          <a:lstStyle/>
          <a:p>
            <a:pPr indent="0" marL="0">
              <a:buNone/>
            </a:pPr>
            <a:r>
              <a:rPr lang="en-US" sz="1900" b="1" dirty="0">
                <a:solidFill>
                  <a:srgbClr val="6C5CE7"/>
                </a:solidFill>
                <a:latin typeface="Cambria" pitchFamily="34" charset="0"/>
                <a:ea typeface="Cambria" pitchFamily="34" charset="-122"/>
                <a:cs typeface="Cambria" pitchFamily="34" charset="-120"/>
              </a:rPr>
              <a:t>That gap is what DiscOS closes.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THE PROBLEM TODAY</a:t>
            </a:r>
            <a:endParaRPr lang="en-US" sz="1150" dirty="0"/>
          </a:p>
        </p:txBody>
      </p:sp>
      <p:sp>
        <p:nvSpPr>
          <p:cNvPr id="3" name="Text 1"/>
          <p:cNvSpPr/>
          <p:nvPr/>
        </p:nvSpPr>
        <p:spPr>
          <a:xfrm>
            <a:off x="548640" y="804672"/>
            <a:ext cx="8229600" cy="640080"/>
          </a:xfrm>
          <a:prstGeom prst="rect">
            <a:avLst/>
          </a:prstGeom>
          <a:noFill/>
          <a:ln/>
        </p:spPr>
        <p:txBody>
          <a:bodyPr wrap="square" lIns="0" tIns="0" rIns="0" bIns="0" rtlCol="0" anchor="ctr"/>
          <a:lstStyle/>
          <a:p>
            <a:pPr indent="0" marL="0">
              <a:buNone/>
            </a:pPr>
            <a:r>
              <a:rPr lang="en-US" sz="2800" b="1" dirty="0">
                <a:solidFill>
                  <a:srgbClr val="1A1B36"/>
                </a:solidFill>
                <a:latin typeface="Cambria" pitchFamily="34" charset="0"/>
                <a:ea typeface="Cambria" pitchFamily="34" charset="-122"/>
                <a:cs typeface="Cambria" pitchFamily="34" charset="-120"/>
              </a:rPr>
              <a:t>Insight dies between the call and the deliverable.</a:t>
            </a:r>
            <a:endParaRPr lang="en-US" sz="2800" dirty="0"/>
          </a:p>
        </p:txBody>
      </p:sp>
      <p:sp>
        <p:nvSpPr>
          <p:cNvPr id="4" name="Shape 2"/>
          <p:cNvSpPr/>
          <p:nvPr/>
        </p:nvSpPr>
        <p:spPr>
          <a:xfrm>
            <a:off x="548640" y="1627632"/>
            <a:ext cx="3886200" cy="1417320"/>
          </a:xfrm>
          <a:prstGeom prst="roundRect">
            <a:avLst>
              <a:gd name="adj" fmla="val 5806"/>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5" name="Shape 3"/>
          <p:cNvSpPr/>
          <p:nvPr/>
        </p:nvSpPr>
        <p:spPr>
          <a:xfrm>
            <a:off x="804672" y="1901952"/>
            <a:ext cx="566928" cy="566928"/>
          </a:xfrm>
          <a:prstGeom prst="ellipse">
            <a:avLst/>
          </a:prstGeom>
          <a:solidFill>
            <a:srgbClr val="ECEBFC"/>
          </a:solidFill>
          <a:ln/>
        </p:spPr>
      </p:sp>
      <p:pic>
        <p:nvPicPr>
          <p:cNvPr id="6" name="Image 0" descr="preencoded.png">    </p:cNvPr>
          <p:cNvPicPr>
            <a:picLocks noChangeAspect="1"/>
          </p:cNvPicPr>
          <p:nvPr/>
        </p:nvPicPr>
        <p:blipFill>
          <a:blip r:embed="rId1"/>
          <a:stretch>
            <a:fillRect/>
          </a:stretch>
        </p:blipFill>
        <p:spPr>
          <a:xfrm>
            <a:off x="1042416" y="2139696"/>
            <a:ext cx="91440" cy="91440"/>
          </a:xfrm>
          <a:prstGeom prst="rect">
            <a:avLst/>
          </a:prstGeom>
        </p:spPr>
      </p:pic>
      <p:sp>
        <p:nvSpPr>
          <p:cNvPr id="7" name="Text 4"/>
          <p:cNvSpPr/>
          <p:nvPr/>
        </p:nvSpPr>
        <p:spPr>
          <a:xfrm>
            <a:off x="1536192" y="1828800"/>
            <a:ext cx="2743200" cy="548640"/>
          </a:xfrm>
          <a:prstGeom prst="rect">
            <a:avLst/>
          </a:prstGeom>
          <a:noFill/>
          <a:ln/>
        </p:spPr>
        <p:txBody>
          <a:bodyPr wrap="square" lIns="0" tIns="0" rIns="0" bIns="0" rtlCol="0" anchor="ctr"/>
          <a:lstStyle/>
          <a:p>
            <a:pPr indent="0" marL="0">
              <a:buNone/>
            </a:pPr>
            <a:r>
              <a:rPr lang="en-US" sz="1450" b="1" dirty="0">
                <a:solidFill>
                  <a:srgbClr val="1A1B36"/>
                </a:solidFill>
                <a:latin typeface="Calibri" pitchFamily="34" charset="0"/>
                <a:ea typeface="Calibri" pitchFamily="34" charset="-122"/>
                <a:cs typeface="Calibri" pitchFamily="34" charset="-120"/>
              </a:rPr>
              <a:t>Insights die in transcripts</a:t>
            </a:r>
            <a:endParaRPr lang="en-US" sz="1450" dirty="0"/>
          </a:p>
        </p:txBody>
      </p:sp>
      <p:sp>
        <p:nvSpPr>
          <p:cNvPr id="8" name="Text 5"/>
          <p:cNvSpPr/>
          <p:nvPr/>
        </p:nvSpPr>
        <p:spPr>
          <a:xfrm>
            <a:off x="1536192" y="2340864"/>
            <a:ext cx="2743200" cy="594360"/>
          </a:xfrm>
          <a:prstGeom prst="rect">
            <a:avLst/>
          </a:prstGeom>
          <a:noFill/>
          <a:ln/>
        </p:spPr>
        <p:txBody>
          <a:bodyPr wrap="square" lIns="0" tIns="0" rIns="0" bIns="0" rtlCol="0" anchor="ctr"/>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What a customer said gets buried in a doc nobody reopens.</a:t>
            </a:r>
            <a:endParaRPr lang="en-US" sz="1150" dirty="0"/>
          </a:p>
        </p:txBody>
      </p:sp>
      <p:sp>
        <p:nvSpPr>
          <p:cNvPr id="9" name="Shape 6"/>
          <p:cNvSpPr/>
          <p:nvPr/>
        </p:nvSpPr>
        <p:spPr>
          <a:xfrm>
            <a:off x="4709160" y="1627632"/>
            <a:ext cx="3886200" cy="1417320"/>
          </a:xfrm>
          <a:prstGeom prst="roundRect">
            <a:avLst>
              <a:gd name="adj" fmla="val 5806"/>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10" name="Shape 7"/>
          <p:cNvSpPr/>
          <p:nvPr/>
        </p:nvSpPr>
        <p:spPr>
          <a:xfrm>
            <a:off x="4965192" y="1901952"/>
            <a:ext cx="566928" cy="566928"/>
          </a:xfrm>
          <a:prstGeom prst="ellipse">
            <a:avLst/>
          </a:prstGeom>
          <a:solidFill>
            <a:srgbClr val="ECEBFC"/>
          </a:solidFill>
          <a:ln/>
        </p:spPr>
      </p:sp>
      <p:pic>
        <p:nvPicPr>
          <p:cNvPr id="11" name="Image 1" descr="preencoded.png">    </p:cNvPr>
          <p:cNvPicPr>
            <a:picLocks noChangeAspect="1"/>
          </p:cNvPicPr>
          <p:nvPr/>
        </p:nvPicPr>
        <p:blipFill>
          <a:blip r:embed="rId2"/>
          <a:stretch>
            <a:fillRect/>
          </a:stretch>
        </p:blipFill>
        <p:spPr>
          <a:xfrm>
            <a:off x="5202936" y="2139696"/>
            <a:ext cx="91440" cy="91440"/>
          </a:xfrm>
          <a:prstGeom prst="rect">
            <a:avLst/>
          </a:prstGeom>
        </p:spPr>
      </p:pic>
      <p:sp>
        <p:nvSpPr>
          <p:cNvPr id="12" name="Text 8"/>
          <p:cNvSpPr/>
          <p:nvPr/>
        </p:nvSpPr>
        <p:spPr>
          <a:xfrm>
            <a:off x="5696712" y="1828800"/>
            <a:ext cx="2743200" cy="548640"/>
          </a:xfrm>
          <a:prstGeom prst="rect">
            <a:avLst/>
          </a:prstGeom>
          <a:noFill/>
          <a:ln/>
        </p:spPr>
        <p:txBody>
          <a:bodyPr wrap="square" lIns="0" tIns="0" rIns="0" bIns="0" rtlCol="0" anchor="ctr"/>
          <a:lstStyle/>
          <a:p>
            <a:pPr indent="0" marL="0">
              <a:buNone/>
            </a:pPr>
            <a:r>
              <a:rPr lang="en-US" sz="1450" b="1" dirty="0">
                <a:solidFill>
                  <a:srgbClr val="1A1B36"/>
                </a:solidFill>
                <a:latin typeface="Calibri" pitchFamily="34" charset="0"/>
                <a:ea typeface="Calibri" pitchFamily="34" charset="-122"/>
                <a:cs typeface="Calibri" pitchFamily="34" charset="-120"/>
              </a:rPr>
              <a:t>Nobody can trace the claim</a:t>
            </a:r>
            <a:endParaRPr lang="en-US" sz="1450" dirty="0"/>
          </a:p>
        </p:txBody>
      </p:sp>
      <p:sp>
        <p:nvSpPr>
          <p:cNvPr id="13" name="Text 9"/>
          <p:cNvSpPr/>
          <p:nvPr/>
        </p:nvSpPr>
        <p:spPr>
          <a:xfrm>
            <a:off x="5696712" y="2340864"/>
            <a:ext cx="2743200" cy="594360"/>
          </a:xfrm>
          <a:prstGeom prst="rect">
            <a:avLst/>
          </a:prstGeom>
          <a:noFill/>
          <a:ln/>
        </p:spPr>
        <p:txBody>
          <a:bodyPr wrap="square" lIns="0" tIns="0" rIns="0" bIns="0" rtlCol="0" anchor="ctr"/>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A line in a deck or PRD, and no way to show where it came from.</a:t>
            </a:r>
            <a:endParaRPr lang="en-US" sz="1150" dirty="0"/>
          </a:p>
        </p:txBody>
      </p:sp>
      <p:sp>
        <p:nvSpPr>
          <p:cNvPr id="14" name="Shape 10"/>
          <p:cNvSpPr/>
          <p:nvPr/>
        </p:nvSpPr>
        <p:spPr>
          <a:xfrm>
            <a:off x="548640" y="3255264"/>
            <a:ext cx="3886200" cy="1417320"/>
          </a:xfrm>
          <a:prstGeom prst="roundRect">
            <a:avLst>
              <a:gd name="adj" fmla="val 5806"/>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15" name="Shape 11"/>
          <p:cNvSpPr/>
          <p:nvPr/>
        </p:nvSpPr>
        <p:spPr>
          <a:xfrm>
            <a:off x="804672" y="3529584"/>
            <a:ext cx="566928" cy="566928"/>
          </a:xfrm>
          <a:prstGeom prst="ellipse">
            <a:avLst/>
          </a:prstGeom>
          <a:solidFill>
            <a:srgbClr val="ECEBFC"/>
          </a:solidFill>
          <a:ln/>
        </p:spPr>
      </p:sp>
      <p:pic>
        <p:nvPicPr>
          <p:cNvPr id="16" name="Image 2" descr="preencoded.png">    </p:cNvPr>
          <p:cNvPicPr>
            <a:picLocks noChangeAspect="1"/>
          </p:cNvPicPr>
          <p:nvPr/>
        </p:nvPicPr>
        <p:blipFill>
          <a:blip r:embed="rId3"/>
          <a:stretch>
            <a:fillRect/>
          </a:stretch>
        </p:blipFill>
        <p:spPr>
          <a:xfrm>
            <a:off x="1042416" y="3767328"/>
            <a:ext cx="91440" cy="91440"/>
          </a:xfrm>
          <a:prstGeom prst="rect">
            <a:avLst/>
          </a:prstGeom>
        </p:spPr>
      </p:pic>
      <p:sp>
        <p:nvSpPr>
          <p:cNvPr id="17" name="Text 12"/>
          <p:cNvSpPr/>
          <p:nvPr/>
        </p:nvSpPr>
        <p:spPr>
          <a:xfrm>
            <a:off x="1536192" y="3456432"/>
            <a:ext cx="2743200" cy="548640"/>
          </a:xfrm>
          <a:prstGeom prst="rect">
            <a:avLst/>
          </a:prstGeom>
          <a:noFill/>
          <a:ln/>
        </p:spPr>
        <p:txBody>
          <a:bodyPr wrap="square" lIns="0" tIns="0" rIns="0" bIns="0" rtlCol="0" anchor="ctr"/>
          <a:lstStyle/>
          <a:p>
            <a:pPr indent="0" marL="0">
              <a:buNone/>
            </a:pPr>
            <a:r>
              <a:rPr lang="en-US" sz="1450" b="1" dirty="0">
                <a:solidFill>
                  <a:srgbClr val="1A1B36"/>
                </a:solidFill>
                <a:latin typeface="Calibri" pitchFamily="34" charset="0"/>
                <a:ea typeface="Calibri" pitchFamily="34" charset="-122"/>
                <a:cs typeface="Calibri" pitchFamily="34" charset="-120"/>
              </a:rPr>
              <a:t>AI invents findings</a:t>
            </a:r>
            <a:endParaRPr lang="en-US" sz="1450" dirty="0"/>
          </a:p>
        </p:txBody>
      </p:sp>
      <p:sp>
        <p:nvSpPr>
          <p:cNvPr id="18" name="Text 13"/>
          <p:cNvSpPr/>
          <p:nvPr/>
        </p:nvSpPr>
        <p:spPr>
          <a:xfrm>
            <a:off x="1536192" y="3968496"/>
            <a:ext cx="2743200" cy="594360"/>
          </a:xfrm>
          <a:prstGeom prst="rect">
            <a:avLst/>
          </a:prstGeom>
          <a:noFill/>
          <a:ln/>
        </p:spPr>
        <p:txBody>
          <a:bodyPr wrap="square" lIns="0" tIns="0" rIns="0" bIns="0" rtlCol="0" anchor="ctr"/>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It will confidently produce an insight with no real source behind it.</a:t>
            </a:r>
            <a:endParaRPr lang="en-US" sz="1150" dirty="0"/>
          </a:p>
        </p:txBody>
      </p:sp>
      <p:sp>
        <p:nvSpPr>
          <p:cNvPr id="19" name="Shape 14"/>
          <p:cNvSpPr/>
          <p:nvPr/>
        </p:nvSpPr>
        <p:spPr>
          <a:xfrm>
            <a:off x="4709160" y="3255264"/>
            <a:ext cx="3886200" cy="1417320"/>
          </a:xfrm>
          <a:prstGeom prst="roundRect">
            <a:avLst>
              <a:gd name="adj" fmla="val 5806"/>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20" name="Shape 15"/>
          <p:cNvSpPr/>
          <p:nvPr/>
        </p:nvSpPr>
        <p:spPr>
          <a:xfrm>
            <a:off x="4965192" y="3529584"/>
            <a:ext cx="566928" cy="566928"/>
          </a:xfrm>
          <a:prstGeom prst="ellipse">
            <a:avLst/>
          </a:prstGeom>
          <a:solidFill>
            <a:srgbClr val="ECEBFC"/>
          </a:solidFill>
          <a:ln/>
        </p:spPr>
      </p:sp>
      <p:pic>
        <p:nvPicPr>
          <p:cNvPr id="21" name="Image 3" descr="preencoded.png">    </p:cNvPr>
          <p:cNvPicPr>
            <a:picLocks noChangeAspect="1"/>
          </p:cNvPicPr>
          <p:nvPr/>
        </p:nvPicPr>
        <p:blipFill>
          <a:blip r:embed="rId4"/>
          <a:stretch>
            <a:fillRect/>
          </a:stretch>
        </p:blipFill>
        <p:spPr>
          <a:xfrm>
            <a:off x="5202936" y="3767328"/>
            <a:ext cx="91440" cy="91440"/>
          </a:xfrm>
          <a:prstGeom prst="rect">
            <a:avLst/>
          </a:prstGeom>
        </p:spPr>
      </p:pic>
      <p:sp>
        <p:nvSpPr>
          <p:cNvPr id="22" name="Text 16"/>
          <p:cNvSpPr/>
          <p:nvPr/>
        </p:nvSpPr>
        <p:spPr>
          <a:xfrm>
            <a:off x="5696712" y="3456432"/>
            <a:ext cx="2743200" cy="548640"/>
          </a:xfrm>
          <a:prstGeom prst="rect">
            <a:avLst/>
          </a:prstGeom>
          <a:noFill/>
          <a:ln/>
        </p:spPr>
        <p:txBody>
          <a:bodyPr wrap="square" lIns="0" tIns="0" rIns="0" bIns="0" rtlCol="0" anchor="ctr"/>
          <a:lstStyle/>
          <a:p>
            <a:pPr indent="0" marL="0">
              <a:buNone/>
            </a:pPr>
            <a:r>
              <a:rPr lang="en-US" sz="1450" b="1" dirty="0">
                <a:solidFill>
                  <a:srgbClr val="1A1B36"/>
                </a:solidFill>
                <a:latin typeface="Calibri" pitchFamily="34" charset="0"/>
                <a:ea typeface="Calibri" pitchFamily="34" charset="-122"/>
                <a:cs typeface="Calibri" pitchFamily="34" charset="-120"/>
              </a:rPr>
              <a:t>Synthesis is slow and stale</a:t>
            </a:r>
            <a:endParaRPr lang="en-US" sz="1450" dirty="0"/>
          </a:p>
        </p:txBody>
      </p:sp>
      <p:sp>
        <p:nvSpPr>
          <p:cNvPr id="23" name="Text 17"/>
          <p:cNvSpPr/>
          <p:nvPr/>
        </p:nvSpPr>
        <p:spPr>
          <a:xfrm>
            <a:off x="5696712" y="3968496"/>
            <a:ext cx="2743200" cy="594360"/>
          </a:xfrm>
          <a:prstGeom prst="rect">
            <a:avLst/>
          </a:prstGeom>
          <a:noFill/>
          <a:ln/>
        </p:spPr>
        <p:txBody>
          <a:bodyPr wrap="square" lIns="0" tIns="0" rIns="0" bIns="0" rtlCol="0" anchor="ctr"/>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Manual to produce, and out of date the moment new evidence lands.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THE COST</a:t>
            </a:r>
            <a:endParaRPr lang="en-US" sz="1150" dirty="0"/>
          </a:p>
        </p:txBody>
      </p:sp>
      <p:sp>
        <p:nvSpPr>
          <p:cNvPr id="3" name="Text 1"/>
          <p:cNvSpPr/>
          <p:nvPr/>
        </p:nvSpPr>
        <p:spPr>
          <a:xfrm>
            <a:off x="548640" y="868680"/>
            <a:ext cx="8138160" cy="1097280"/>
          </a:xfrm>
          <a:prstGeom prst="rect">
            <a:avLst/>
          </a:prstGeom>
          <a:noFill/>
          <a:ln/>
        </p:spPr>
        <p:txBody>
          <a:bodyPr wrap="square" lIns="0" tIns="0" rIns="0" bIns="0" rtlCol="0" anchor="ctr"/>
          <a:lstStyle/>
          <a:p>
            <a:pPr indent="0" marL="0">
              <a:lnSpc>
                <a:spcPct val="104000"/>
              </a:lnSpc>
              <a:buNone/>
            </a:pPr>
            <a:r>
              <a:rPr lang="en-US" sz="2900" b="1" dirty="0">
                <a:solidFill>
                  <a:srgbClr val="FFFFFF"/>
                </a:solidFill>
                <a:latin typeface="Cambria" pitchFamily="34" charset="0"/>
                <a:ea typeface="Cambria" pitchFamily="34" charset="-122"/>
                <a:cs typeface="Cambria" pitchFamily="34" charset="-120"/>
              </a:rPr>
              <a:t>When you cannot show your work, you fall back on opinion.</a:t>
            </a:r>
            <a:endParaRPr lang="en-US" sz="2900" dirty="0"/>
          </a:p>
        </p:txBody>
      </p:sp>
      <p:sp>
        <p:nvSpPr>
          <p:cNvPr id="4" name="Shape 2"/>
          <p:cNvSpPr/>
          <p:nvPr/>
        </p:nvSpPr>
        <p:spPr>
          <a:xfrm>
            <a:off x="566928" y="2377440"/>
            <a:ext cx="420624" cy="420624"/>
          </a:xfrm>
          <a:prstGeom prst="ellipse">
            <a:avLst/>
          </a:prstGeom>
          <a:solidFill>
            <a:srgbClr val="1E1F44"/>
          </a:solidFill>
          <a:ln/>
        </p:spPr>
      </p:sp>
      <p:pic>
        <p:nvPicPr>
          <p:cNvPr id="5" name="Image 0" descr="preencoded.png">    </p:cNvPr>
          <p:cNvPicPr>
            <a:picLocks noChangeAspect="1"/>
          </p:cNvPicPr>
          <p:nvPr/>
        </p:nvPicPr>
        <p:blipFill>
          <a:blip r:embed="rId1"/>
          <a:stretch>
            <a:fillRect/>
          </a:stretch>
        </p:blipFill>
        <p:spPr>
          <a:xfrm>
            <a:off x="676656" y="2487168"/>
            <a:ext cx="201168" cy="201168"/>
          </a:xfrm>
          <a:prstGeom prst="rect">
            <a:avLst/>
          </a:prstGeom>
        </p:spPr>
      </p:pic>
      <p:sp>
        <p:nvSpPr>
          <p:cNvPr id="6" name="Text 3"/>
          <p:cNvSpPr/>
          <p:nvPr/>
        </p:nvSpPr>
        <p:spPr>
          <a:xfrm>
            <a:off x="1170432" y="2340864"/>
            <a:ext cx="7315200" cy="502920"/>
          </a:xfrm>
          <a:prstGeom prst="rect">
            <a:avLst/>
          </a:prstGeom>
          <a:noFill/>
          <a:ln/>
        </p:spPr>
        <p:txBody>
          <a:bodyPr wrap="square" lIns="0" tIns="0" rIns="0" bIns="0" rtlCol="0" anchor="ctr"/>
          <a:lstStyle/>
          <a:p>
            <a:pPr indent="0" marL="0">
              <a:buNone/>
            </a:pPr>
            <a:r>
              <a:rPr lang="en-US" sz="1550" dirty="0">
                <a:solidFill>
                  <a:srgbClr val="C8CBE8"/>
                </a:solidFill>
                <a:latin typeface="Calibri" pitchFamily="34" charset="0"/>
                <a:ea typeface="Calibri" pitchFamily="34" charset="-122"/>
                <a:cs typeface="Calibri" pitchFamily="34" charset="-120"/>
              </a:rPr>
              <a:t>Decisions get made on the loudest voice, not the strongest evidence.</a:t>
            </a:r>
            <a:endParaRPr lang="en-US" sz="1550" dirty="0"/>
          </a:p>
        </p:txBody>
      </p:sp>
      <p:sp>
        <p:nvSpPr>
          <p:cNvPr id="7" name="Shape 4"/>
          <p:cNvSpPr/>
          <p:nvPr/>
        </p:nvSpPr>
        <p:spPr>
          <a:xfrm>
            <a:off x="566928" y="3090672"/>
            <a:ext cx="420624" cy="420624"/>
          </a:xfrm>
          <a:prstGeom prst="ellipse">
            <a:avLst/>
          </a:prstGeom>
          <a:solidFill>
            <a:srgbClr val="1E1F44"/>
          </a:solidFill>
          <a:ln/>
        </p:spPr>
      </p:sp>
      <p:pic>
        <p:nvPicPr>
          <p:cNvPr id="8" name="Image 1" descr="preencoded.png">    </p:cNvPr>
          <p:cNvPicPr>
            <a:picLocks noChangeAspect="1"/>
          </p:cNvPicPr>
          <p:nvPr/>
        </p:nvPicPr>
        <p:blipFill>
          <a:blip r:embed="rId2"/>
          <a:stretch>
            <a:fillRect/>
          </a:stretch>
        </p:blipFill>
        <p:spPr>
          <a:xfrm>
            <a:off x="676656" y="3200400"/>
            <a:ext cx="201168" cy="201168"/>
          </a:xfrm>
          <a:prstGeom prst="rect">
            <a:avLst/>
          </a:prstGeom>
        </p:spPr>
      </p:pic>
      <p:sp>
        <p:nvSpPr>
          <p:cNvPr id="9" name="Text 5"/>
          <p:cNvSpPr/>
          <p:nvPr/>
        </p:nvSpPr>
        <p:spPr>
          <a:xfrm>
            <a:off x="1170432" y="3054096"/>
            <a:ext cx="7315200" cy="502920"/>
          </a:xfrm>
          <a:prstGeom prst="rect">
            <a:avLst/>
          </a:prstGeom>
          <a:noFill/>
          <a:ln/>
        </p:spPr>
        <p:txBody>
          <a:bodyPr wrap="square" lIns="0" tIns="0" rIns="0" bIns="0" rtlCol="0" anchor="ctr"/>
          <a:lstStyle/>
          <a:p>
            <a:pPr indent="0" marL="0">
              <a:buNone/>
            </a:pPr>
            <a:r>
              <a:rPr lang="en-US" sz="1550" dirty="0">
                <a:solidFill>
                  <a:srgbClr val="C8CBE8"/>
                </a:solidFill>
                <a:latin typeface="Calibri" pitchFamily="34" charset="0"/>
                <a:ea typeface="Calibri" pitchFamily="34" charset="-122"/>
                <a:cs typeface="Calibri" pitchFamily="34" charset="-120"/>
              </a:rPr>
              <a:t>Trust erodes at every handoff between research, design, product, and marketing.</a:t>
            </a:r>
            <a:endParaRPr lang="en-US" sz="1550" dirty="0"/>
          </a:p>
        </p:txBody>
      </p:sp>
      <p:sp>
        <p:nvSpPr>
          <p:cNvPr id="10" name="Shape 6"/>
          <p:cNvSpPr/>
          <p:nvPr/>
        </p:nvSpPr>
        <p:spPr>
          <a:xfrm>
            <a:off x="566928" y="3803904"/>
            <a:ext cx="420624" cy="420624"/>
          </a:xfrm>
          <a:prstGeom prst="ellipse">
            <a:avLst/>
          </a:prstGeom>
          <a:solidFill>
            <a:srgbClr val="1E1F44"/>
          </a:solidFill>
          <a:ln/>
        </p:spPr>
      </p:sp>
      <p:pic>
        <p:nvPicPr>
          <p:cNvPr id="11" name="Image 2" descr="preencoded.png">    </p:cNvPr>
          <p:cNvPicPr>
            <a:picLocks noChangeAspect="1"/>
          </p:cNvPicPr>
          <p:nvPr/>
        </p:nvPicPr>
        <p:blipFill>
          <a:blip r:embed="rId3"/>
          <a:stretch>
            <a:fillRect/>
          </a:stretch>
        </p:blipFill>
        <p:spPr>
          <a:xfrm>
            <a:off x="676656" y="3913632"/>
            <a:ext cx="201168" cy="201168"/>
          </a:xfrm>
          <a:prstGeom prst="rect">
            <a:avLst/>
          </a:prstGeom>
        </p:spPr>
      </p:pic>
      <p:sp>
        <p:nvSpPr>
          <p:cNvPr id="12" name="Text 7"/>
          <p:cNvSpPr/>
          <p:nvPr/>
        </p:nvSpPr>
        <p:spPr>
          <a:xfrm>
            <a:off x="1170432" y="3767328"/>
            <a:ext cx="7315200" cy="502920"/>
          </a:xfrm>
          <a:prstGeom prst="rect">
            <a:avLst/>
          </a:prstGeom>
          <a:noFill/>
          <a:ln/>
        </p:spPr>
        <p:txBody>
          <a:bodyPr wrap="square" lIns="0" tIns="0" rIns="0" bIns="0" rtlCol="0" anchor="ctr"/>
          <a:lstStyle/>
          <a:p>
            <a:pPr indent="0" marL="0">
              <a:buNone/>
            </a:pPr>
            <a:r>
              <a:rPr lang="en-US" sz="1550" dirty="0">
                <a:solidFill>
                  <a:srgbClr val="C8CBE8"/>
                </a:solidFill>
                <a:latin typeface="Calibri" pitchFamily="34" charset="0"/>
                <a:ea typeface="Calibri" pitchFamily="34" charset="-122"/>
                <a:cs typeface="Calibri" pitchFamily="34" charset="-120"/>
              </a:rPr>
              <a:t>The organisation's hardest-won truth goes unused.</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50" b="1" spc="300" kern="0" dirty="0">
                <a:solidFill>
                  <a:srgbClr val="1FA97D"/>
                </a:solidFill>
                <a:latin typeface="Calibri" pitchFamily="34" charset="0"/>
                <a:ea typeface="Calibri" pitchFamily="34" charset="-122"/>
                <a:cs typeface="Calibri" pitchFamily="34" charset="-120"/>
              </a:rPr>
              <a:t>THE SHIFT</a:t>
            </a:r>
            <a:endParaRPr lang="en-US" sz="1150" dirty="0"/>
          </a:p>
        </p:txBody>
      </p:sp>
      <p:sp>
        <p:nvSpPr>
          <p:cNvPr id="3" name="Text 1"/>
          <p:cNvSpPr/>
          <p:nvPr/>
        </p:nvSpPr>
        <p:spPr>
          <a:xfrm>
            <a:off x="548640" y="1143000"/>
            <a:ext cx="8229600" cy="10972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Traceability is the product.</a:t>
            </a:r>
            <a:endParaRPr lang="en-US" sz="4600" dirty="0"/>
          </a:p>
        </p:txBody>
      </p:sp>
      <p:sp>
        <p:nvSpPr>
          <p:cNvPr id="4" name="Text 2"/>
          <p:cNvSpPr/>
          <p:nvPr/>
        </p:nvSpPr>
        <p:spPr>
          <a:xfrm>
            <a:off x="566928" y="2697480"/>
            <a:ext cx="7955280" cy="1371600"/>
          </a:xfrm>
          <a:prstGeom prst="rect">
            <a:avLst/>
          </a:prstGeom>
          <a:noFill/>
          <a:ln/>
        </p:spPr>
        <p:txBody>
          <a:bodyPr wrap="square" lIns="0" tIns="0" rIns="0" bIns="0" rtlCol="0" anchor="ctr"/>
          <a:lstStyle/>
          <a:p>
            <a:pPr indent="0" marL="0">
              <a:lnSpc>
                <a:spcPct val="118000"/>
              </a:lnSpc>
              <a:buNone/>
            </a:pPr>
            <a:r>
              <a:rPr lang="en-US" sz="1700" dirty="0">
                <a:solidFill>
                  <a:srgbClr val="C8CBE8"/>
                </a:solidFill>
                <a:latin typeface="Calibri" pitchFamily="34" charset="0"/>
                <a:ea typeface="Calibri" pitchFamily="34" charset="-122"/>
                <a:cs typeface="Calibri" pitchFamily="34" charset="-120"/>
              </a:rPr>
              <a:t>DiscOS turns the messy, first-hand signal of your work into knowledge you can stand behind. </a:t>
            </a:r>
            <a:pPr indent="0" marL="0">
              <a:lnSpc>
                <a:spcPct val="118000"/>
              </a:lnSpc>
              <a:buNone/>
            </a:pPr>
            <a:r>
              <a:rPr lang="en-US" sz="1700" b="1" dirty="0">
                <a:solidFill>
                  <a:srgbClr val="FFFFFF"/>
                </a:solidFill>
                <a:latin typeface="Calibri" pitchFamily="34" charset="0"/>
                <a:ea typeface="Calibri" pitchFamily="34" charset="-122"/>
                <a:cs typeface="Calibri" pitchFamily="34" charset="-120"/>
              </a:rPr>
              <a:t>Every claim links back to the exact sentence a person said, in the exact source.</a:t>
            </a:r>
            <a:pPr indent="0" marL="0">
              <a:lnSpc>
                <a:spcPct val="118000"/>
              </a:lnSpc>
              <a:buNone/>
            </a:pPr>
            <a:r>
              <a:rPr lang="en-US" sz="1700" dirty="0">
                <a:solidFill>
                  <a:srgbClr val="C8CBE8"/>
                </a:solidFill>
                <a:latin typeface="Calibri" pitchFamily="34" charset="0"/>
                <a:ea typeface="Calibri" pitchFamily="34" charset="-122"/>
                <a:cs typeface="Calibri" pitchFamily="34" charset="-120"/>
              </a:rPr>
              <a:t> Not a summary you take on faith. Evidence.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HOW IT WORKS</a:t>
            </a:r>
            <a:endParaRPr lang="en-US" sz="1150" dirty="0"/>
          </a:p>
        </p:txBody>
      </p:sp>
      <p:sp>
        <p:nvSpPr>
          <p:cNvPr id="3" name="Text 1"/>
          <p:cNvSpPr/>
          <p:nvPr/>
        </p:nvSpPr>
        <p:spPr>
          <a:xfrm>
            <a:off x="548640" y="804672"/>
            <a:ext cx="8229600" cy="640080"/>
          </a:xfrm>
          <a:prstGeom prst="rect">
            <a:avLst/>
          </a:prstGeom>
          <a:noFill/>
          <a:ln/>
        </p:spPr>
        <p:txBody>
          <a:bodyPr wrap="square" lIns="0" tIns="0" rIns="0" bIns="0" rtlCol="0" anchor="ctr"/>
          <a:lstStyle/>
          <a:p>
            <a:pPr indent="0" marL="0">
              <a:buNone/>
            </a:pPr>
            <a:r>
              <a:rPr lang="en-US" sz="2700" b="1" dirty="0">
                <a:solidFill>
                  <a:srgbClr val="1A1B36"/>
                </a:solidFill>
                <a:latin typeface="Cambria" pitchFamily="34" charset="0"/>
                <a:ea typeface="Cambria" pitchFamily="34" charset="-122"/>
                <a:cs typeface="Cambria" pitchFamily="34" charset="-120"/>
              </a:rPr>
              <a:t>From a single sentence to a strategy, and back again.</a:t>
            </a:r>
            <a:endParaRPr lang="en-US" sz="2700" dirty="0"/>
          </a:p>
        </p:txBody>
      </p:sp>
      <p:sp>
        <p:nvSpPr>
          <p:cNvPr id="4" name="Shape 2"/>
          <p:cNvSpPr/>
          <p:nvPr/>
        </p:nvSpPr>
        <p:spPr>
          <a:xfrm>
            <a:off x="1691640" y="2212848"/>
            <a:ext cx="489204" cy="0"/>
          </a:xfrm>
          <a:prstGeom prst="line">
            <a:avLst/>
          </a:prstGeom>
          <a:noFill/>
          <a:ln w="19050">
            <a:solidFill>
              <a:srgbClr val="D7D7EA"/>
            </a:solidFill>
            <a:prstDash val="solid"/>
          </a:ln>
        </p:spPr>
      </p:sp>
      <p:sp>
        <p:nvSpPr>
          <p:cNvPr id="5" name="Shape 3"/>
          <p:cNvSpPr/>
          <p:nvPr/>
        </p:nvSpPr>
        <p:spPr>
          <a:xfrm>
            <a:off x="923544" y="1828800"/>
            <a:ext cx="768096" cy="768096"/>
          </a:xfrm>
          <a:prstGeom prst="ellipse">
            <a:avLst/>
          </a:prstGeom>
          <a:solidFill>
            <a:srgbClr val="6C5CE7"/>
          </a:solidFill>
          <a:ln/>
        </p:spPr>
      </p:sp>
      <p:pic>
        <p:nvPicPr>
          <p:cNvPr id="6" name="Image 0" descr="preencoded.png">    </p:cNvPr>
          <p:cNvPicPr>
            <a:picLocks noChangeAspect="1"/>
          </p:cNvPicPr>
          <p:nvPr/>
        </p:nvPicPr>
        <p:blipFill>
          <a:blip r:embed="rId1"/>
          <a:stretch>
            <a:fillRect/>
          </a:stretch>
        </p:blipFill>
        <p:spPr>
          <a:xfrm>
            <a:off x="1124712" y="2029968"/>
            <a:ext cx="365760" cy="365760"/>
          </a:xfrm>
          <a:prstGeom prst="rect">
            <a:avLst/>
          </a:prstGeom>
        </p:spPr>
      </p:pic>
      <p:sp>
        <p:nvSpPr>
          <p:cNvPr id="7" name="Text 4"/>
          <p:cNvSpPr/>
          <p:nvPr/>
        </p:nvSpPr>
        <p:spPr>
          <a:xfrm>
            <a:off x="548640" y="2670048"/>
            <a:ext cx="1517904" cy="320040"/>
          </a:xfrm>
          <a:prstGeom prst="rect">
            <a:avLst/>
          </a:prstGeom>
          <a:noFill/>
          <a:ln/>
        </p:spPr>
        <p:txBody>
          <a:bodyPr wrap="square" lIns="0" tIns="0" rIns="0" bIns="0" rtlCol="0" anchor="ctr"/>
          <a:lstStyle/>
          <a:p>
            <a:pPr algn="ctr" indent="0" marL="0">
              <a:buNone/>
            </a:pPr>
            <a:r>
              <a:rPr lang="en-US" sz="1400" b="1" dirty="0">
                <a:solidFill>
                  <a:srgbClr val="1A1B36"/>
                </a:solidFill>
                <a:latin typeface="Calibri" pitchFamily="34" charset="0"/>
                <a:ea typeface="Calibri" pitchFamily="34" charset="-122"/>
                <a:cs typeface="Calibri" pitchFamily="34" charset="-120"/>
              </a:rPr>
              <a:t>Source</a:t>
            </a:r>
            <a:endParaRPr lang="en-US" sz="1400" dirty="0"/>
          </a:p>
        </p:txBody>
      </p:sp>
      <p:sp>
        <p:nvSpPr>
          <p:cNvPr id="8" name="Text 5"/>
          <p:cNvSpPr/>
          <p:nvPr/>
        </p:nvSpPr>
        <p:spPr>
          <a:xfrm>
            <a:off x="411480" y="3008376"/>
            <a:ext cx="1792224" cy="822960"/>
          </a:xfrm>
          <a:prstGeom prst="rect">
            <a:avLst/>
          </a:prstGeom>
          <a:noFill/>
          <a:ln/>
        </p:spPr>
        <p:txBody>
          <a:bodyPr wrap="square" lIns="0" tIns="0" rIns="0" bIns="0" rtlCol="0" anchor="ctr"/>
          <a:lstStyle/>
          <a:p>
            <a:pPr algn="ctr" indent="0" marL="0">
              <a:lnSpc>
                <a:spcPct val="104000"/>
              </a:lnSpc>
              <a:buNone/>
            </a:pPr>
            <a:r>
              <a:rPr lang="en-US" sz="1080" dirty="0">
                <a:solidFill>
                  <a:srgbClr val="6B7280"/>
                </a:solidFill>
                <a:latin typeface="Calibri" pitchFamily="34" charset="0"/>
                <a:ea typeface="Calibri" pitchFamily="34" charset="-122"/>
                <a:cs typeface="Calibri" pitchFamily="34" charset="-120"/>
              </a:rPr>
              <a:t>The raw call, document, or note.</a:t>
            </a:r>
            <a:endParaRPr lang="en-US" sz="1080" dirty="0"/>
          </a:p>
        </p:txBody>
      </p:sp>
      <p:sp>
        <p:nvSpPr>
          <p:cNvPr id="9" name="Shape 6"/>
          <p:cNvSpPr/>
          <p:nvPr/>
        </p:nvSpPr>
        <p:spPr>
          <a:xfrm>
            <a:off x="3323844" y="2212848"/>
            <a:ext cx="489204" cy="0"/>
          </a:xfrm>
          <a:prstGeom prst="line">
            <a:avLst/>
          </a:prstGeom>
          <a:noFill/>
          <a:ln w="19050">
            <a:solidFill>
              <a:srgbClr val="D7D7EA"/>
            </a:solidFill>
            <a:prstDash val="solid"/>
          </a:ln>
        </p:spPr>
      </p:sp>
      <p:sp>
        <p:nvSpPr>
          <p:cNvPr id="10" name="Shape 7"/>
          <p:cNvSpPr/>
          <p:nvPr/>
        </p:nvSpPr>
        <p:spPr>
          <a:xfrm>
            <a:off x="2555748" y="1828800"/>
            <a:ext cx="768096" cy="768096"/>
          </a:xfrm>
          <a:prstGeom prst="ellipse">
            <a:avLst/>
          </a:prstGeom>
          <a:solidFill>
            <a:srgbClr val="6C5CE7"/>
          </a:solidFill>
          <a:ln/>
        </p:spPr>
      </p:sp>
      <p:pic>
        <p:nvPicPr>
          <p:cNvPr id="11" name="Image 1" descr="preencoded.png">    </p:cNvPr>
          <p:cNvPicPr>
            <a:picLocks noChangeAspect="1"/>
          </p:cNvPicPr>
          <p:nvPr/>
        </p:nvPicPr>
        <p:blipFill>
          <a:blip r:embed="rId2"/>
          <a:stretch>
            <a:fillRect/>
          </a:stretch>
        </p:blipFill>
        <p:spPr>
          <a:xfrm>
            <a:off x="2756916" y="2029968"/>
            <a:ext cx="365760" cy="365760"/>
          </a:xfrm>
          <a:prstGeom prst="rect">
            <a:avLst/>
          </a:prstGeom>
        </p:spPr>
      </p:pic>
      <p:sp>
        <p:nvSpPr>
          <p:cNvPr id="12" name="Text 8"/>
          <p:cNvSpPr/>
          <p:nvPr/>
        </p:nvSpPr>
        <p:spPr>
          <a:xfrm>
            <a:off x="2180844" y="2670048"/>
            <a:ext cx="1517904" cy="320040"/>
          </a:xfrm>
          <a:prstGeom prst="rect">
            <a:avLst/>
          </a:prstGeom>
          <a:noFill/>
          <a:ln/>
        </p:spPr>
        <p:txBody>
          <a:bodyPr wrap="square" lIns="0" tIns="0" rIns="0" bIns="0" rtlCol="0" anchor="ctr"/>
          <a:lstStyle/>
          <a:p>
            <a:pPr algn="ctr" indent="0" marL="0">
              <a:buNone/>
            </a:pPr>
            <a:r>
              <a:rPr lang="en-US" sz="1400" b="1" dirty="0">
                <a:solidFill>
                  <a:srgbClr val="1A1B36"/>
                </a:solidFill>
                <a:latin typeface="Calibri" pitchFamily="34" charset="0"/>
                <a:ea typeface="Calibri" pitchFamily="34" charset="-122"/>
                <a:cs typeface="Calibri" pitchFamily="34" charset="-120"/>
              </a:rPr>
              <a:t>Evidence</a:t>
            </a:r>
            <a:endParaRPr lang="en-US" sz="1400" dirty="0"/>
          </a:p>
        </p:txBody>
      </p:sp>
      <p:sp>
        <p:nvSpPr>
          <p:cNvPr id="13" name="Text 9"/>
          <p:cNvSpPr/>
          <p:nvPr/>
        </p:nvSpPr>
        <p:spPr>
          <a:xfrm>
            <a:off x="2043684" y="3008376"/>
            <a:ext cx="1792224" cy="822960"/>
          </a:xfrm>
          <a:prstGeom prst="rect">
            <a:avLst/>
          </a:prstGeom>
          <a:noFill/>
          <a:ln/>
        </p:spPr>
        <p:txBody>
          <a:bodyPr wrap="square" lIns="0" tIns="0" rIns="0" bIns="0" rtlCol="0" anchor="ctr"/>
          <a:lstStyle/>
          <a:p>
            <a:pPr algn="ctr" indent="0" marL="0">
              <a:lnSpc>
                <a:spcPct val="104000"/>
              </a:lnSpc>
              <a:buNone/>
            </a:pPr>
            <a:r>
              <a:rPr lang="en-US" sz="1080" dirty="0">
                <a:solidFill>
                  <a:srgbClr val="6B7280"/>
                </a:solidFill>
                <a:latin typeface="Calibri" pitchFamily="34" charset="0"/>
                <a:ea typeface="Calibri" pitchFamily="34" charset="-122"/>
                <a:cs typeface="Calibri" pitchFamily="34" charset="-120"/>
              </a:rPr>
              <a:t>Each citable claim, tied to its exact sentence.</a:t>
            </a:r>
            <a:endParaRPr lang="en-US" sz="1080" dirty="0"/>
          </a:p>
        </p:txBody>
      </p:sp>
      <p:sp>
        <p:nvSpPr>
          <p:cNvPr id="14" name="Shape 10"/>
          <p:cNvSpPr/>
          <p:nvPr/>
        </p:nvSpPr>
        <p:spPr>
          <a:xfrm>
            <a:off x="4956048" y="2212848"/>
            <a:ext cx="489204" cy="0"/>
          </a:xfrm>
          <a:prstGeom prst="line">
            <a:avLst/>
          </a:prstGeom>
          <a:noFill/>
          <a:ln w="19050">
            <a:solidFill>
              <a:srgbClr val="D7D7EA"/>
            </a:solidFill>
            <a:prstDash val="solid"/>
          </a:ln>
        </p:spPr>
      </p:sp>
      <p:sp>
        <p:nvSpPr>
          <p:cNvPr id="15" name="Shape 11"/>
          <p:cNvSpPr/>
          <p:nvPr/>
        </p:nvSpPr>
        <p:spPr>
          <a:xfrm>
            <a:off x="4187952" y="1828800"/>
            <a:ext cx="768096" cy="768096"/>
          </a:xfrm>
          <a:prstGeom prst="ellipse">
            <a:avLst/>
          </a:prstGeom>
          <a:solidFill>
            <a:srgbClr val="6C5CE7"/>
          </a:solidFill>
          <a:ln/>
        </p:spPr>
      </p:sp>
      <p:pic>
        <p:nvPicPr>
          <p:cNvPr id="16" name="Image 2" descr="preencoded.png">    </p:cNvPr>
          <p:cNvPicPr>
            <a:picLocks noChangeAspect="1"/>
          </p:cNvPicPr>
          <p:nvPr/>
        </p:nvPicPr>
        <p:blipFill>
          <a:blip r:embed="rId3"/>
          <a:stretch>
            <a:fillRect/>
          </a:stretch>
        </p:blipFill>
        <p:spPr>
          <a:xfrm>
            <a:off x="4389120" y="2029968"/>
            <a:ext cx="365760" cy="365760"/>
          </a:xfrm>
          <a:prstGeom prst="rect">
            <a:avLst/>
          </a:prstGeom>
        </p:spPr>
      </p:pic>
      <p:sp>
        <p:nvSpPr>
          <p:cNvPr id="17" name="Text 12"/>
          <p:cNvSpPr/>
          <p:nvPr/>
        </p:nvSpPr>
        <p:spPr>
          <a:xfrm>
            <a:off x="3813048" y="2670048"/>
            <a:ext cx="1517904" cy="320040"/>
          </a:xfrm>
          <a:prstGeom prst="rect">
            <a:avLst/>
          </a:prstGeom>
          <a:noFill/>
          <a:ln/>
        </p:spPr>
        <p:txBody>
          <a:bodyPr wrap="square" lIns="0" tIns="0" rIns="0" bIns="0" rtlCol="0" anchor="ctr"/>
          <a:lstStyle/>
          <a:p>
            <a:pPr algn="ctr" indent="0" marL="0">
              <a:buNone/>
            </a:pPr>
            <a:r>
              <a:rPr lang="en-US" sz="1400" b="1" dirty="0">
                <a:solidFill>
                  <a:srgbClr val="1A1B36"/>
                </a:solidFill>
                <a:latin typeface="Calibri" pitchFamily="34" charset="0"/>
                <a:ea typeface="Calibri" pitchFamily="34" charset="-122"/>
                <a:cs typeface="Calibri" pitchFamily="34" charset="-120"/>
              </a:rPr>
              <a:t>Themes</a:t>
            </a:r>
            <a:endParaRPr lang="en-US" sz="1400" dirty="0"/>
          </a:p>
        </p:txBody>
      </p:sp>
      <p:sp>
        <p:nvSpPr>
          <p:cNvPr id="18" name="Text 13"/>
          <p:cNvSpPr/>
          <p:nvPr/>
        </p:nvSpPr>
        <p:spPr>
          <a:xfrm>
            <a:off x="3675888" y="3008376"/>
            <a:ext cx="1792224" cy="822960"/>
          </a:xfrm>
          <a:prstGeom prst="rect">
            <a:avLst/>
          </a:prstGeom>
          <a:noFill/>
          <a:ln/>
        </p:spPr>
        <p:txBody>
          <a:bodyPr wrap="square" lIns="0" tIns="0" rIns="0" bIns="0" rtlCol="0" anchor="ctr"/>
          <a:lstStyle/>
          <a:p>
            <a:pPr algn="ctr" indent="0" marL="0">
              <a:lnSpc>
                <a:spcPct val="104000"/>
              </a:lnSpc>
              <a:buNone/>
            </a:pPr>
            <a:r>
              <a:rPr lang="en-US" sz="1080" dirty="0">
                <a:solidFill>
                  <a:srgbClr val="6B7280"/>
                </a:solidFill>
                <a:latin typeface="Calibri" pitchFamily="34" charset="0"/>
                <a:ea typeface="Calibri" pitchFamily="34" charset="-122"/>
                <a:cs typeface="Calibri" pitchFamily="34" charset="-120"/>
              </a:rPr>
              <a:t>Patterns of shared meaning across sources.</a:t>
            </a:r>
            <a:endParaRPr lang="en-US" sz="1080" dirty="0"/>
          </a:p>
        </p:txBody>
      </p:sp>
      <p:sp>
        <p:nvSpPr>
          <p:cNvPr id="19" name="Shape 14"/>
          <p:cNvSpPr/>
          <p:nvPr/>
        </p:nvSpPr>
        <p:spPr>
          <a:xfrm>
            <a:off x="6588252" y="2212848"/>
            <a:ext cx="489204" cy="0"/>
          </a:xfrm>
          <a:prstGeom prst="line">
            <a:avLst/>
          </a:prstGeom>
          <a:noFill/>
          <a:ln w="19050">
            <a:solidFill>
              <a:srgbClr val="D7D7EA"/>
            </a:solidFill>
            <a:prstDash val="solid"/>
          </a:ln>
        </p:spPr>
      </p:sp>
      <p:sp>
        <p:nvSpPr>
          <p:cNvPr id="20" name="Shape 15"/>
          <p:cNvSpPr/>
          <p:nvPr/>
        </p:nvSpPr>
        <p:spPr>
          <a:xfrm>
            <a:off x="5820156" y="1828800"/>
            <a:ext cx="768096" cy="768096"/>
          </a:xfrm>
          <a:prstGeom prst="ellipse">
            <a:avLst/>
          </a:prstGeom>
          <a:solidFill>
            <a:srgbClr val="6C5CE7"/>
          </a:solidFill>
          <a:ln/>
        </p:spPr>
      </p:sp>
      <p:pic>
        <p:nvPicPr>
          <p:cNvPr id="21" name="Image 3" descr="preencoded.png">    </p:cNvPr>
          <p:cNvPicPr>
            <a:picLocks noChangeAspect="1"/>
          </p:cNvPicPr>
          <p:nvPr/>
        </p:nvPicPr>
        <p:blipFill>
          <a:blip r:embed="rId4"/>
          <a:stretch>
            <a:fillRect/>
          </a:stretch>
        </p:blipFill>
        <p:spPr>
          <a:xfrm>
            <a:off x="6021324" y="2029968"/>
            <a:ext cx="365760" cy="365760"/>
          </a:xfrm>
          <a:prstGeom prst="rect">
            <a:avLst/>
          </a:prstGeom>
        </p:spPr>
      </p:pic>
      <p:sp>
        <p:nvSpPr>
          <p:cNvPr id="22" name="Text 16"/>
          <p:cNvSpPr/>
          <p:nvPr/>
        </p:nvSpPr>
        <p:spPr>
          <a:xfrm>
            <a:off x="5445252" y="2670048"/>
            <a:ext cx="1517904" cy="320040"/>
          </a:xfrm>
          <a:prstGeom prst="rect">
            <a:avLst/>
          </a:prstGeom>
          <a:noFill/>
          <a:ln/>
        </p:spPr>
        <p:txBody>
          <a:bodyPr wrap="square" lIns="0" tIns="0" rIns="0" bIns="0" rtlCol="0" anchor="ctr"/>
          <a:lstStyle/>
          <a:p>
            <a:pPr algn="ctr" indent="0" marL="0">
              <a:buNone/>
            </a:pPr>
            <a:r>
              <a:rPr lang="en-US" sz="1400" b="1" dirty="0">
                <a:solidFill>
                  <a:srgbClr val="1A1B36"/>
                </a:solidFill>
                <a:latin typeface="Calibri" pitchFamily="34" charset="0"/>
                <a:ea typeface="Calibri" pitchFamily="34" charset="-122"/>
                <a:cs typeface="Calibri" pitchFamily="34" charset="-120"/>
              </a:rPr>
              <a:t>Problems</a:t>
            </a:r>
            <a:endParaRPr lang="en-US" sz="1400" dirty="0"/>
          </a:p>
        </p:txBody>
      </p:sp>
      <p:sp>
        <p:nvSpPr>
          <p:cNvPr id="23" name="Text 17"/>
          <p:cNvSpPr/>
          <p:nvPr/>
        </p:nvSpPr>
        <p:spPr>
          <a:xfrm>
            <a:off x="5308092" y="3008376"/>
            <a:ext cx="1792224" cy="822960"/>
          </a:xfrm>
          <a:prstGeom prst="rect">
            <a:avLst/>
          </a:prstGeom>
          <a:noFill/>
          <a:ln/>
        </p:spPr>
        <p:txBody>
          <a:bodyPr wrap="square" lIns="0" tIns="0" rIns="0" bIns="0" rtlCol="0" anchor="ctr"/>
          <a:lstStyle/>
          <a:p>
            <a:pPr algn="ctr" indent="0" marL="0">
              <a:lnSpc>
                <a:spcPct val="104000"/>
              </a:lnSpc>
              <a:buNone/>
            </a:pPr>
            <a:r>
              <a:rPr lang="en-US" sz="1080" dirty="0">
                <a:solidFill>
                  <a:srgbClr val="6B7280"/>
                </a:solidFill>
                <a:latin typeface="Calibri" pitchFamily="34" charset="0"/>
                <a:ea typeface="Calibri" pitchFamily="34" charset="-122"/>
                <a:cs typeface="Calibri" pitchFamily="34" charset="-120"/>
              </a:rPr>
              <a:t>Evidence-backed, never invented.</a:t>
            </a:r>
            <a:endParaRPr lang="en-US" sz="1080" dirty="0"/>
          </a:p>
        </p:txBody>
      </p:sp>
      <p:sp>
        <p:nvSpPr>
          <p:cNvPr id="24" name="Shape 18"/>
          <p:cNvSpPr/>
          <p:nvPr/>
        </p:nvSpPr>
        <p:spPr>
          <a:xfrm>
            <a:off x="7452360" y="1828800"/>
            <a:ext cx="768096" cy="768096"/>
          </a:xfrm>
          <a:prstGeom prst="ellipse">
            <a:avLst/>
          </a:prstGeom>
          <a:solidFill>
            <a:srgbClr val="1FA97D"/>
          </a:solidFill>
          <a:ln/>
        </p:spPr>
      </p:sp>
      <p:pic>
        <p:nvPicPr>
          <p:cNvPr id="25" name="Image 4" descr="preencoded.png">    </p:cNvPr>
          <p:cNvPicPr>
            <a:picLocks noChangeAspect="1"/>
          </p:cNvPicPr>
          <p:nvPr/>
        </p:nvPicPr>
        <p:blipFill>
          <a:blip r:embed="rId5"/>
          <a:stretch>
            <a:fillRect/>
          </a:stretch>
        </p:blipFill>
        <p:spPr>
          <a:xfrm>
            <a:off x="7653528" y="2029968"/>
            <a:ext cx="365760" cy="365760"/>
          </a:xfrm>
          <a:prstGeom prst="rect">
            <a:avLst/>
          </a:prstGeom>
        </p:spPr>
      </p:pic>
      <p:sp>
        <p:nvSpPr>
          <p:cNvPr id="26" name="Text 19"/>
          <p:cNvSpPr/>
          <p:nvPr/>
        </p:nvSpPr>
        <p:spPr>
          <a:xfrm>
            <a:off x="7077456" y="2670048"/>
            <a:ext cx="1517904" cy="320040"/>
          </a:xfrm>
          <a:prstGeom prst="rect">
            <a:avLst/>
          </a:prstGeom>
          <a:noFill/>
          <a:ln/>
        </p:spPr>
        <p:txBody>
          <a:bodyPr wrap="square" lIns="0" tIns="0" rIns="0" bIns="0" rtlCol="0" anchor="ctr"/>
          <a:lstStyle/>
          <a:p>
            <a:pPr algn="ctr" indent="0" marL="0">
              <a:buNone/>
            </a:pPr>
            <a:r>
              <a:rPr lang="en-US" sz="1400" b="1" dirty="0">
                <a:solidFill>
                  <a:srgbClr val="1A1B36"/>
                </a:solidFill>
                <a:latin typeface="Calibri" pitchFamily="34" charset="0"/>
                <a:ea typeface="Calibri" pitchFamily="34" charset="-122"/>
                <a:cs typeface="Calibri" pitchFamily="34" charset="-120"/>
              </a:rPr>
              <a:t>Outputs</a:t>
            </a:r>
            <a:endParaRPr lang="en-US" sz="1400" dirty="0"/>
          </a:p>
        </p:txBody>
      </p:sp>
      <p:sp>
        <p:nvSpPr>
          <p:cNvPr id="27" name="Text 20"/>
          <p:cNvSpPr/>
          <p:nvPr/>
        </p:nvSpPr>
        <p:spPr>
          <a:xfrm>
            <a:off x="6940296" y="3008376"/>
            <a:ext cx="1792224" cy="822960"/>
          </a:xfrm>
          <a:prstGeom prst="rect">
            <a:avLst/>
          </a:prstGeom>
          <a:noFill/>
          <a:ln/>
        </p:spPr>
        <p:txBody>
          <a:bodyPr wrap="square" lIns="0" tIns="0" rIns="0" bIns="0" rtlCol="0" anchor="ctr"/>
          <a:lstStyle/>
          <a:p>
            <a:pPr algn="ctr" indent="0" marL="0">
              <a:lnSpc>
                <a:spcPct val="104000"/>
              </a:lnSpc>
              <a:buNone/>
            </a:pPr>
            <a:r>
              <a:rPr lang="en-US" sz="1080" dirty="0">
                <a:solidFill>
                  <a:srgbClr val="6B7280"/>
                </a:solidFill>
                <a:latin typeface="Calibri" pitchFamily="34" charset="0"/>
                <a:ea typeface="Calibri" pitchFamily="34" charset="-122"/>
                <a:cs typeface="Calibri" pitchFamily="34" charset="-120"/>
              </a:rPr>
              <a:t>PRDs, decks, battlecards. All cite-backed.</a:t>
            </a:r>
            <a:endParaRPr lang="en-US" sz="1080" dirty="0"/>
          </a:p>
        </p:txBody>
      </p:sp>
      <p:sp>
        <p:nvSpPr>
          <p:cNvPr id="28" name="Text 21"/>
          <p:cNvSpPr/>
          <p:nvPr/>
        </p:nvSpPr>
        <p:spPr>
          <a:xfrm>
            <a:off x="548640" y="4370832"/>
            <a:ext cx="8229600" cy="457200"/>
          </a:xfrm>
          <a:prstGeom prst="rect">
            <a:avLst/>
          </a:prstGeom>
          <a:noFill/>
          <a:ln/>
        </p:spPr>
        <p:txBody>
          <a:bodyPr wrap="square" lIns="0" tIns="0" rIns="0" bIns="0" rtlCol="0" anchor="ctr"/>
          <a:lstStyle/>
          <a:p>
            <a:pPr algn="ctr" indent="0" marL="0">
              <a:buNone/>
            </a:pPr>
            <a:r>
              <a:rPr lang="en-US" sz="1450" i="1" dirty="0">
                <a:solidFill>
                  <a:srgbClr val="6C5CE7"/>
                </a:solidFill>
                <a:latin typeface="Calibri" pitchFamily="34" charset="0"/>
                <a:ea typeface="Calibri" pitchFamily="34" charset="-122"/>
                <a:cs typeface="Calibri" pitchFamily="34" charset="-120"/>
              </a:rPr>
              <a:t>Every output walks back to the exact quote that earned it.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THE TRUST LAYER</a:t>
            </a:r>
            <a:endParaRPr lang="en-US" sz="1150" dirty="0"/>
          </a:p>
        </p:txBody>
      </p:sp>
      <p:sp>
        <p:nvSpPr>
          <p:cNvPr id="3" name="Text 1"/>
          <p:cNvSpPr/>
          <p:nvPr/>
        </p:nvSpPr>
        <p:spPr>
          <a:xfrm>
            <a:off x="548640" y="804672"/>
            <a:ext cx="8229600" cy="640080"/>
          </a:xfrm>
          <a:prstGeom prst="rect">
            <a:avLst/>
          </a:prstGeom>
          <a:noFill/>
          <a:ln/>
        </p:spPr>
        <p:txBody>
          <a:bodyPr wrap="square" lIns="0" tIns="0" rIns="0" bIns="0" rtlCol="0" anchor="ctr"/>
          <a:lstStyle/>
          <a:p>
            <a:pPr indent="0" marL="0">
              <a:buNone/>
            </a:pPr>
            <a:r>
              <a:rPr lang="en-US" sz="2800" b="1" dirty="0">
                <a:solidFill>
                  <a:srgbClr val="1A1B36"/>
                </a:solidFill>
                <a:latin typeface="Cambria" pitchFamily="34" charset="0"/>
                <a:ea typeface="Cambria" pitchFamily="34" charset="-122"/>
                <a:cs typeface="Cambria" pitchFamily="34" charset="-120"/>
              </a:rPr>
              <a:t>The machine proposes. You decide.</a:t>
            </a:r>
            <a:endParaRPr lang="en-US" sz="2800" dirty="0"/>
          </a:p>
        </p:txBody>
      </p:sp>
      <p:sp>
        <p:nvSpPr>
          <p:cNvPr id="4" name="Shape 2"/>
          <p:cNvSpPr/>
          <p:nvPr/>
        </p:nvSpPr>
        <p:spPr>
          <a:xfrm>
            <a:off x="548640" y="1691640"/>
            <a:ext cx="3886200" cy="1874520"/>
          </a:xfrm>
          <a:prstGeom prst="roundRect">
            <a:avLst>
              <a:gd name="adj" fmla="val 4878"/>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5" name="Shape 3"/>
          <p:cNvSpPr/>
          <p:nvPr/>
        </p:nvSpPr>
        <p:spPr>
          <a:xfrm>
            <a:off x="841248" y="1984248"/>
            <a:ext cx="658368" cy="658368"/>
          </a:xfrm>
          <a:prstGeom prst="ellipse">
            <a:avLst/>
          </a:prstGeom>
          <a:solidFill>
            <a:srgbClr val="ECEBFC"/>
          </a:solidFill>
          <a:ln/>
        </p:spPr>
      </p:sp>
      <p:pic>
        <p:nvPicPr>
          <p:cNvPr id="6" name="Image 0" descr="preencoded.png">    </p:cNvPr>
          <p:cNvPicPr>
            <a:picLocks noChangeAspect="1"/>
          </p:cNvPicPr>
          <p:nvPr/>
        </p:nvPicPr>
        <p:blipFill>
          <a:blip r:embed="rId1"/>
          <a:stretch>
            <a:fillRect/>
          </a:stretch>
        </p:blipFill>
        <p:spPr>
          <a:xfrm>
            <a:off x="1078992" y="2221992"/>
            <a:ext cx="182880" cy="182880"/>
          </a:xfrm>
          <a:prstGeom prst="rect">
            <a:avLst/>
          </a:prstGeom>
        </p:spPr>
      </p:pic>
      <p:sp>
        <p:nvSpPr>
          <p:cNvPr id="7" name="Text 4"/>
          <p:cNvSpPr/>
          <p:nvPr/>
        </p:nvSpPr>
        <p:spPr>
          <a:xfrm>
            <a:off x="1691640" y="1938528"/>
            <a:ext cx="2560320" cy="548640"/>
          </a:xfrm>
          <a:prstGeom prst="rect">
            <a:avLst/>
          </a:prstGeom>
          <a:noFill/>
          <a:ln/>
        </p:spPr>
        <p:txBody>
          <a:bodyPr wrap="square" lIns="0" tIns="0" rIns="0" bIns="0" rtlCol="0" anchor="ctr"/>
          <a:lstStyle/>
          <a:p>
            <a:pPr indent="0" marL="0">
              <a:buNone/>
            </a:pPr>
            <a:r>
              <a:rPr lang="en-US" sz="1550" b="1" dirty="0">
                <a:solidFill>
                  <a:srgbClr val="1A1B36"/>
                </a:solidFill>
                <a:latin typeface="Calibri" pitchFamily="34" charset="0"/>
                <a:ea typeface="Calibri" pitchFamily="34" charset="-122"/>
                <a:cs typeface="Calibri" pitchFamily="34" charset="-120"/>
              </a:rPr>
              <a:t>AI suggests the structure</a:t>
            </a:r>
            <a:endParaRPr lang="en-US" sz="1550" dirty="0"/>
          </a:p>
        </p:txBody>
      </p:sp>
      <p:sp>
        <p:nvSpPr>
          <p:cNvPr id="8" name="Text 5"/>
          <p:cNvSpPr/>
          <p:nvPr/>
        </p:nvSpPr>
        <p:spPr>
          <a:xfrm>
            <a:off x="859536" y="2670048"/>
            <a:ext cx="3291840" cy="868680"/>
          </a:xfrm>
          <a:prstGeom prst="rect">
            <a:avLst/>
          </a:prstGeom>
          <a:noFill/>
          <a:ln/>
        </p:spPr>
        <p:txBody>
          <a:bodyPr wrap="square" lIns="0" tIns="0" rIns="0" bIns="0" rtlCol="0" anchor="ctr"/>
          <a:lstStyle/>
          <a:p>
            <a:pPr indent="0" marL="0">
              <a:lnSpc>
                <a:spcPct val="110000"/>
              </a:lnSpc>
              <a:buNone/>
            </a:pPr>
            <a:r>
              <a:rPr lang="en-US" sz="1250" dirty="0">
                <a:solidFill>
                  <a:srgbClr val="6B7280"/>
                </a:solidFill>
                <a:latin typeface="Calibri" pitchFamily="34" charset="0"/>
                <a:ea typeface="Calibri" pitchFamily="34" charset="-122"/>
                <a:cs typeface="Calibri" pitchFamily="34" charset="-120"/>
              </a:rPr>
              <a:t>Themes, problems, and connections, drafted as a first pass across all your evidence.</a:t>
            </a:r>
            <a:endParaRPr lang="en-US" sz="1250" dirty="0"/>
          </a:p>
        </p:txBody>
      </p:sp>
      <p:sp>
        <p:nvSpPr>
          <p:cNvPr id="9" name="Shape 6"/>
          <p:cNvSpPr/>
          <p:nvPr/>
        </p:nvSpPr>
        <p:spPr>
          <a:xfrm>
            <a:off x="4709160" y="1691640"/>
            <a:ext cx="3886200" cy="1874520"/>
          </a:xfrm>
          <a:prstGeom prst="roundRect">
            <a:avLst>
              <a:gd name="adj" fmla="val 4878"/>
            </a:avLst>
          </a:prstGeom>
          <a:solidFill>
            <a:srgbClr val="F6FBF8"/>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10" name="Shape 7"/>
          <p:cNvSpPr/>
          <p:nvPr/>
        </p:nvSpPr>
        <p:spPr>
          <a:xfrm>
            <a:off x="5001768" y="1984248"/>
            <a:ext cx="658368" cy="658368"/>
          </a:xfrm>
          <a:prstGeom prst="ellipse">
            <a:avLst/>
          </a:prstGeom>
          <a:solidFill>
            <a:srgbClr val="E4F5EE"/>
          </a:solidFill>
          <a:ln/>
        </p:spPr>
      </p:sp>
      <p:pic>
        <p:nvPicPr>
          <p:cNvPr id="11" name="Image 1" descr="preencoded.png">    </p:cNvPr>
          <p:cNvPicPr>
            <a:picLocks noChangeAspect="1"/>
          </p:cNvPicPr>
          <p:nvPr/>
        </p:nvPicPr>
        <p:blipFill>
          <a:blip r:embed="rId2"/>
          <a:stretch>
            <a:fillRect/>
          </a:stretch>
        </p:blipFill>
        <p:spPr>
          <a:xfrm>
            <a:off x="5239512" y="2221992"/>
            <a:ext cx="182880" cy="182880"/>
          </a:xfrm>
          <a:prstGeom prst="rect">
            <a:avLst/>
          </a:prstGeom>
        </p:spPr>
      </p:pic>
      <p:sp>
        <p:nvSpPr>
          <p:cNvPr id="12" name="Text 8"/>
          <p:cNvSpPr/>
          <p:nvPr/>
        </p:nvSpPr>
        <p:spPr>
          <a:xfrm>
            <a:off x="5852160" y="1938528"/>
            <a:ext cx="2560320" cy="548640"/>
          </a:xfrm>
          <a:prstGeom prst="rect">
            <a:avLst/>
          </a:prstGeom>
          <a:noFill/>
          <a:ln/>
        </p:spPr>
        <p:txBody>
          <a:bodyPr wrap="square" lIns="0" tIns="0" rIns="0" bIns="0" rtlCol="0" anchor="ctr"/>
          <a:lstStyle/>
          <a:p>
            <a:pPr indent="0" marL="0">
              <a:buNone/>
            </a:pPr>
            <a:r>
              <a:rPr lang="en-US" sz="1550" b="1" dirty="0">
                <a:solidFill>
                  <a:srgbClr val="1A1B36"/>
                </a:solidFill>
                <a:latin typeface="Calibri" pitchFamily="34" charset="0"/>
                <a:ea typeface="Calibri" pitchFamily="34" charset="-122"/>
                <a:cs typeface="Calibri" pitchFamily="34" charset="-120"/>
              </a:rPr>
              <a:t>A human accepts it</a:t>
            </a:r>
            <a:endParaRPr lang="en-US" sz="1550" dirty="0"/>
          </a:p>
        </p:txBody>
      </p:sp>
      <p:sp>
        <p:nvSpPr>
          <p:cNvPr id="13" name="Text 9"/>
          <p:cNvSpPr/>
          <p:nvPr/>
        </p:nvSpPr>
        <p:spPr>
          <a:xfrm>
            <a:off x="5020056" y="2670048"/>
            <a:ext cx="3291840" cy="868680"/>
          </a:xfrm>
          <a:prstGeom prst="rect">
            <a:avLst/>
          </a:prstGeom>
          <a:noFill/>
          <a:ln/>
        </p:spPr>
        <p:txBody>
          <a:bodyPr wrap="square" lIns="0" tIns="0" rIns="0" bIns="0" rtlCol="0" anchor="ctr"/>
          <a:lstStyle/>
          <a:p>
            <a:pPr indent="0" marL="0">
              <a:lnSpc>
                <a:spcPct val="110000"/>
              </a:lnSpc>
              <a:buNone/>
            </a:pPr>
            <a:r>
              <a:rPr lang="en-US" sz="1250" dirty="0">
                <a:solidFill>
                  <a:srgbClr val="6B7280"/>
                </a:solidFill>
                <a:latin typeface="Calibri" pitchFamily="34" charset="0"/>
                <a:ea typeface="Calibri" pitchFamily="34" charset="-122"/>
                <a:cs typeface="Calibri" pitchFamily="34" charset="-120"/>
              </a:rPr>
              <a:t>Nothing becomes stakeholder-ready without your sign-off. Suggested stays suggested until you say so.</a:t>
            </a:r>
            <a:endParaRPr lang="en-US" sz="1250" dirty="0"/>
          </a:p>
        </p:txBody>
      </p:sp>
      <p:sp>
        <p:nvSpPr>
          <p:cNvPr id="14" name="Text 10"/>
          <p:cNvSpPr/>
          <p:nvPr/>
        </p:nvSpPr>
        <p:spPr>
          <a:xfrm>
            <a:off x="548640" y="4069080"/>
            <a:ext cx="8229600" cy="457200"/>
          </a:xfrm>
          <a:prstGeom prst="rect">
            <a:avLst/>
          </a:prstGeom>
          <a:noFill/>
          <a:ln/>
        </p:spPr>
        <p:txBody>
          <a:bodyPr wrap="square" lIns="0" tIns="0" rIns="0" bIns="0" rtlCol="0" anchor="ctr"/>
          <a:lstStyle/>
          <a:p>
            <a:pPr indent="0" marL="0">
              <a:buNone/>
            </a:pPr>
            <a:r>
              <a:rPr lang="en-US" sz="1800" b="1" dirty="0">
                <a:solidFill>
                  <a:srgbClr val="1A1B36"/>
                </a:solidFill>
                <a:latin typeface="Cambria" pitchFamily="34" charset="0"/>
                <a:ea typeface="Cambria" pitchFamily="34" charset="-122"/>
                <a:cs typeface="Cambria" pitchFamily="34" charset="-120"/>
              </a:rPr>
              <a:t>That line is the difference between evidence and a confident guess.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WHO IT IS FOR</a:t>
            </a:r>
            <a:endParaRPr lang="en-US" sz="1150" dirty="0"/>
          </a:p>
        </p:txBody>
      </p:sp>
      <p:sp>
        <p:nvSpPr>
          <p:cNvPr id="3" name="Text 1"/>
          <p:cNvSpPr/>
          <p:nvPr/>
        </p:nvSpPr>
        <p:spPr>
          <a:xfrm>
            <a:off x="548640" y="804672"/>
            <a:ext cx="8229600" cy="640080"/>
          </a:xfrm>
          <a:prstGeom prst="rect">
            <a:avLst/>
          </a:prstGeom>
          <a:noFill/>
          <a:ln/>
        </p:spPr>
        <p:txBody>
          <a:bodyPr wrap="square" lIns="0" tIns="0" rIns="0" bIns="0" rtlCol="0" anchor="ctr"/>
          <a:lstStyle/>
          <a:p>
            <a:pPr indent="0" marL="0">
              <a:buNone/>
            </a:pPr>
            <a:r>
              <a:rPr lang="en-US" sz="2800" b="1" dirty="0">
                <a:solidFill>
                  <a:srgbClr val="1A1B36"/>
                </a:solidFill>
                <a:latin typeface="Cambria" pitchFamily="34" charset="0"/>
                <a:ea typeface="Cambria" pitchFamily="34" charset="-122"/>
                <a:cs typeface="Cambria" pitchFamily="34" charset="-120"/>
              </a:rPr>
              <a:t>Built for everyone who has to be right.</a:t>
            </a:r>
            <a:endParaRPr lang="en-US" sz="2800" dirty="0"/>
          </a:p>
        </p:txBody>
      </p:sp>
      <p:sp>
        <p:nvSpPr>
          <p:cNvPr id="4" name="Shape 2"/>
          <p:cNvSpPr/>
          <p:nvPr/>
        </p:nvSpPr>
        <p:spPr>
          <a:xfrm>
            <a:off x="548640" y="1591056"/>
            <a:ext cx="3886200" cy="1463040"/>
          </a:xfrm>
          <a:prstGeom prst="roundRect">
            <a:avLst>
              <a:gd name="adj" fmla="val 5625"/>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5" name="Shape 3"/>
          <p:cNvSpPr/>
          <p:nvPr/>
        </p:nvSpPr>
        <p:spPr>
          <a:xfrm>
            <a:off x="822960" y="1847088"/>
            <a:ext cx="566928" cy="566928"/>
          </a:xfrm>
          <a:prstGeom prst="ellipse">
            <a:avLst/>
          </a:prstGeom>
          <a:solidFill>
            <a:srgbClr val="ECEBFC"/>
          </a:solidFill>
          <a:ln/>
        </p:spPr>
      </p:sp>
      <p:pic>
        <p:nvPicPr>
          <p:cNvPr id="6" name="Image 0" descr="preencoded.png">    </p:cNvPr>
          <p:cNvPicPr>
            <a:picLocks noChangeAspect="1"/>
          </p:cNvPicPr>
          <p:nvPr/>
        </p:nvPicPr>
        <p:blipFill>
          <a:blip r:embed="rId1"/>
          <a:stretch>
            <a:fillRect/>
          </a:stretch>
        </p:blipFill>
        <p:spPr>
          <a:xfrm>
            <a:off x="1060704" y="2084832"/>
            <a:ext cx="91440" cy="91440"/>
          </a:xfrm>
          <a:prstGeom prst="rect">
            <a:avLst/>
          </a:prstGeom>
        </p:spPr>
      </p:pic>
      <p:sp>
        <p:nvSpPr>
          <p:cNvPr id="7" name="Text 4"/>
          <p:cNvSpPr/>
          <p:nvPr/>
        </p:nvSpPr>
        <p:spPr>
          <a:xfrm>
            <a:off x="1536192" y="1792224"/>
            <a:ext cx="2788920" cy="329184"/>
          </a:xfrm>
          <a:prstGeom prst="rect">
            <a:avLst/>
          </a:prstGeom>
          <a:noFill/>
          <a:ln/>
        </p:spPr>
        <p:txBody>
          <a:bodyPr wrap="square" lIns="0" tIns="0" rIns="0" bIns="0" rtlCol="0" anchor="ctr"/>
          <a:lstStyle/>
          <a:p>
            <a:pPr indent="0" marL="0">
              <a:buNone/>
            </a:pPr>
            <a:r>
              <a:rPr lang="en-US" sz="1400" b="1" dirty="0">
                <a:solidFill>
                  <a:srgbClr val="6C5CE7"/>
                </a:solidFill>
                <a:latin typeface="Calibri" pitchFamily="34" charset="0"/>
                <a:ea typeface="Calibri" pitchFamily="34" charset="-122"/>
                <a:cs typeface="Calibri" pitchFamily="34" charset="-120"/>
              </a:rPr>
              <a:t>Researchers</a:t>
            </a:r>
            <a:endParaRPr lang="en-US" sz="1400" dirty="0"/>
          </a:p>
        </p:txBody>
      </p:sp>
      <p:sp>
        <p:nvSpPr>
          <p:cNvPr id="8" name="Text 5"/>
          <p:cNvSpPr/>
          <p:nvPr/>
        </p:nvSpPr>
        <p:spPr>
          <a:xfrm>
            <a:off x="1536192" y="2139696"/>
            <a:ext cx="2788920" cy="841248"/>
          </a:xfrm>
          <a:prstGeom prst="rect">
            <a:avLst/>
          </a:prstGeom>
          <a:noFill/>
          <a:ln/>
        </p:spPr>
        <p:txBody>
          <a:bodyPr wrap="square" lIns="0" tIns="0" rIns="0" bIns="0" rtlCol="0" anchor="ctr"/>
          <a:lstStyle/>
          <a:p>
            <a:pPr indent="0" marL="0">
              <a:lnSpc>
                <a:spcPct val="104000"/>
              </a:lnSpc>
              <a:buNone/>
            </a:pPr>
            <a:r>
              <a:rPr lang="en-US" sz="1100" dirty="0">
                <a:solidFill>
                  <a:srgbClr val="1A1B36"/>
                </a:solidFill>
                <a:latin typeface="Calibri" pitchFamily="34" charset="0"/>
                <a:ea typeface="Calibri" pitchFamily="34" charset="-122"/>
                <a:cs typeface="Calibri" pitchFamily="34" charset="-120"/>
              </a:rPr>
              <a:t>Stop losing insights. Synthesis that is grounded and auditable, with a trail from every finding back to the raw quote.</a:t>
            </a:r>
            <a:endParaRPr lang="en-US" sz="1100" dirty="0"/>
          </a:p>
        </p:txBody>
      </p:sp>
      <p:sp>
        <p:nvSpPr>
          <p:cNvPr id="9" name="Shape 6"/>
          <p:cNvSpPr/>
          <p:nvPr/>
        </p:nvSpPr>
        <p:spPr>
          <a:xfrm>
            <a:off x="4709160" y="1591056"/>
            <a:ext cx="3886200" cy="1463040"/>
          </a:xfrm>
          <a:prstGeom prst="roundRect">
            <a:avLst>
              <a:gd name="adj" fmla="val 5625"/>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10" name="Shape 7"/>
          <p:cNvSpPr/>
          <p:nvPr/>
        </p:nvSpPr>
        <p:spPr>
          <a:xfrm>
            <a:off x="4983480" y="1847088"/>
            <a:ext cx="566928" cy="566928"/>
          </a:xfrm>
          <a:prstGeom prst="ellipse">
            <a:avLst/>
          </a:prstGeom>
          <a:solidFill>
            <a:srgbClr val="ECEBFC"/>
          </a:solidFill>
          <a:ln/>
        </p:spPr>
      </p:sp>
      <p:pic>
        <p:nvPicPr>
          <p:cNvPr id="11" name="Image 1" descr="preencoded.png">    </p:cNvPr>
          <p:cNvPicPr>
            <a:picLocks noChangeAspect="1"/>
          </p:cNvPicPr>
          <p:nvPr/>
        </p:nvPicPr>
        <p:blipFill>
          <a:blip r:embed="rId2"/>
          <a:stretch>
            <a:fillRect/>
          </a:stretch>
        </p:blipFill>
        <p:spPr>
          <a:xfrm>
            <a:off x="5221224" y="2084832"/>
            <a:ext cx="91440" cy="91440"/>
          </a:xfrm>
          <a:prstGeom prst="rect">
            <a:avLst/>
          </a:prstGeom>
        </p:spPr>
      </p:pic>
      <p:sp>
        <p:nvSpPr>
          <p:cNvPr id="12" name="Text 8"/>
          <p:cNvSpPr/>
          <p:nvPr/>
        </p:nvSpPr>
        <p:spPr>
          <a:xfrm>
            <a:off x="5696712" y="1792224"/>
            <a:ext cx="2788920" cy="329184"/>
          </a:xfrm>
          <a:prstGeom prst="rect">
            <a:avLst/>
          </a:prstGeom>
          <a:noFill/>
          <a:ln/>
        </p:spPr>
        <p:txBody>
          <a:bodyPr wrap="square" lIns="0" tIns="0" rIns="0" bIns="0" rtlCol="0" anchor="ctr"/>
          <a:lstStyle/>
          <a:p>
            <a:pPr indent="0" marL="0">
              <a:buNone/>
            </a:pPr>
            <a:r>
              <a:rPr lang="en-US" sz="1400" b="1" dirty="0">
                <a:solidFill>
                  <a:srgbClr val="6C5CE7"/>
                </a:solidFill>
                <a:latin typeface="Calibri" pitchFamily="34" charset="0"/>
                <a:ea typeface="Calibri" pitchFamily="34" charset="-122"/>
                <a:cs typeface="Calibri" pitchFamily="34" charset="-120"/>
              </a:rPr>
              <a:t>Designers</a:t>
            </a:r>
            <a:endParaRPr lang="en-US" sz="1400" dirty="0"/>
          </a:p>
        </p:txBody>
      </p:sp>
      <p:sp>
        <p:nvSpPr>
          <p:cNvPr id="13" name="Text 9"/>
          <p:cNvSpPr/>
          <p:nvPr/>
        </p:nvSpPr>
        <p:spPr>
          <a:xfrm>
            <a:off x="5696712" y="2139696"/>
            <a:ext cx="2788920" cy="841248"/>
          </a:xfrm>
          <a:prstGeom prst="rect">
            <a:avLst/>
          </a:prstGeom>
          <a:noFill/>
          <a:ln/>
        </p:spPr>
        <p:txBody>
          <a:bodyPr wrap="square" lIns="0" tIns="0" rIns="0" bIns="0" rtlCol="0" anchor="ctr"/>
          <a:lstStyle/>
          <a:p>
            <a:pPr indent="0" marL="0">
              <a:lnSpc>
                <a:spcPct val="104000"/>
              </a:lnSpc>
              <a:buNone/>
            </a:pPr>
            <a:r>
              <a:rPr lang="en-US" sz="1100" dirty="0">
                <a:solidFill>
                  <a:srgbClr val="1A1B36"/>
                </a:solidFill>
                <a:latin typeface="Calibri" pitchFamily="34" charset="0"/>
                <a:ea typeface="Calibri" pitchFamily="34" charset="-122"/>
                <a:cs typeface="Calibri" pitchFamily="34" charset="-120"/>
              </a:rPr>
              <a:t>Defend design decisions with the exact user evidence behind them, not opinion.</a:t>
            </a:r>
            <a:endParaRPr lang="en-US" sz="1100" dirty="0"/>
          </a:p>
        </p:txBody>
      </p:sp>
      <p:sp>
        <p:nvSpPr>
          <p:cNvPr id="14" name="Shape 10"/>
          <p:cNvSpPr/>
          <p:nvPr/>
        </p:nvSpPr>
        <p:spPr>
          <a:xfrm>
            <a:off x="548640" y="3236976"/>
            <a:ext cx="3886200" cy="1463040"/>
          </a:xfrm>
          <a:prstGeom prst="roundRect">
            <a:avLst>
              <a:gd name="adj" fmla="val 5625"/>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15" name="Shape 11"/>
          <p:cNvSpPr/>
          <p:nvPr/>
        </p:nvSpPr>
        <p:spPr>
          <a:xfrm>
            <a:off x="822960" y="3493008"/>
            <a:ext cx="566928" cy="566928"/>
          </a:xfrm>
          <a:prstGeom prst="ellipse">
            <a:avLst/>
          </a:prstGeom>
          <a:solidFill>
            <a:srgbClr val="ECEBFC"/>
          </a:solidFill>
          <a:ln/>
        </p:spPr>
      </p:sp>
      <p:pic>
        <p:nvPicPr>
          <p:cNvPr id="16" name="Image 2" descr="preencoded.png">    </p:cNvPr>
          <p:cNvPicPr>
            <a:picLocks noChangeAspect="1"/>
          </p:cNvPicPr>
          <p:nvPr/>
        </p:nvPicPr>
        <p:blipFill>
          <a:blip r:embed="rId3"/>
          <a:stretch>
            <a:fillRect/>
          </a:stretch>
        </p:blipFill>
        <p:spPr>
          <a:xfrm>
            <a:off x="1060704" y="3730752"/>
            <a:ext cx="91440" cy="91440"/>
          </a:xfrm>
          <a:prstGeom prst="rect">
            <a:avLst/>
          </a:prstGeom>
        </p:spPr>
      </p:pic>
      <p:sp>
        <p:nvSpPr>
          <p:cNvPr id="17" name="Text 12"/>
          <p:cNvSpPr/>
          <p:nvPr/>
        </p:nvSpPr>
        <p:spPr>
          <a:xfrm>
            <a:off x="1536192" y="3438144"/>
            <a:ext cx="2788920" cy="329184"/>
          </a:xfrm>
          <a:prstGeom prst="rect">
            <a:avLst/>
          </a:prstGeom>
          <a:noFill/>
          <a:ln/>
        </p:spPr>
        <p:txBody>
          <a:bodyPr wrap="square" lIns="0" tIns="0" rIns="0" bIns="0" rtlCol="0" anchor="ctr"/>
          <a:lstStyle/>
          <a:p>
            <a:pPr indent="0" marL="0">
              <a:buNone/>
            </a:pPr>
            <a:r>
              <a:rPr lang="en-US" sz="1400" b="1" dirty="0">
                <a:solidFill>
                  <a:srgbClr val="6C5CE7"/>
                </a:solidFill>
                <a:latin typeface="Calibri" pitchFamily="34" charset="0"/>
                <a:ea typeface="Calibri" pitchFamily="34" charset="-122"/>
                <a:cs typeface="Calibri" pitchFamily="34" charset="-120"/>
              </a:rPr>
              <a:t>Product managers</a:t>
            </a:r>
            <a:endParaRPr lang="en-US" sz="1400" dirty="0"/>
          </a:p>
        </p:txBody>
      </p:sp>
      <p:sp>
        <p:nvSpPr>
          <p:cNvPr id="18" name="Text 13"/>
          <p:cNvSpPr/>
          <p:nvPr/>
        </p:nvSpPr>
        <p:spPr>
          <a:xfrm>
            <a:off x="1536192" y="3785616"/>
            <a:ext cx="2788920" cy="841248"/>
          </a:xfrm>
          <a:prstGeom prst="rect">
            <a:avLst/>
          </a:prstGeom>
          <a:noFill/>
          <a:ln/>
        </p:spPr>
        <p:txBody>
          <a:bodyPr wrap="square" lIns="0" tIns="0" rIns="0" bIns="0" rtlCol="0" anchor="ctr"/>
          <a:lstStyle/>
          <a:p>
            <a:pPr indent="0" marL="0">
              <a:lnSpc>
                <a:spcPct val="104000"/>
              </a:lnSpc>
              <a:buNone/>
            </a:pPr>
            <a:r>
              <a:rPr lang="en-US" sz="1100" dirty="0">
                <a:solidFill>
                  <a:srgbClr val="1A1B36"/>
                </a:solidFill>
                <a:latin typeface="Calibri" pitchFamily="34" charset="0"/>
                <a:ea typeface="Calibri" pitchFamily="34" charset="-122"/>
                <a:cs typeface="Calibri" pitchFamily="34" charset="-120"/>
              </a:rPr>
              <a:t>Problem statements and PRDs that trace to customer truth. Prioritise by evidence weight, not the loudest voice.</a:t>
            </a:r>
            <a:endParaRPr lang="en-US" sz="1100" dirty="0"/>
          </a:p>
        </p:txBody>
      </p:sp>
      <p:sp>
        <p:nvSpPr>
          <p:cNvPr id="19" name="Shape 14"/>
          <p:cNvSpPr/>
          <p:nvPr/>
        </p:nvSpPr>
        <p:spPr>
          <a:xfrm>
            <a:off x="4709160" y="3236976"/>
            <a:ext cx="3886200" cy="1463040"/>
          </a:xfrm>
          <a:prstGeom prst="roundRect">
            <a:avLst>
              <a:gd name="adj" fmla="val 5625"/>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20" name="Shape 15"/>
          <p:cNvSpPr/>
          <p:nvPr/>
        </p:nvSpPr>
        <p:spPr>
          <a:xfrm>
            <a:off x="4983480" y="3493008"/>
            <a:ext cx="566928" cy="566928"/>
          </a:xfrm>
          <a:prstGeom prst="ellipse">
            <a:avLst/>
          </a:prstGeom>
          <a:solidFill>
            <a:srgbClr val="ECEBFC"/>
          </a:solidFill>
          <a:ln/>
        </p:spPr>
      </p:sp>
      <p:pic>
        <p:nvPicPr>
          <p:cNvPr id="21" name="Image 3" descr="preencoded.png">    </p:cNvPr>
          <p:cNvPicPr>
            <a:picLocks noChangeAspect="1"/>
          </p:cNvPicPr>
          <p:nvPr/>
        </p:nvPicPr>
        <p:blipFill>
          <a:blip r:embed="rId4"/>
          <a:stretch>
            <a:fillRect/>
          </a:stretch>
        </p:blipFill>
        <p:spPr>
          <a:xfrm>
            <a:off x="5221224" y="3730752"/>
            <a:ext cx="91440" cy="91440"/>
          </a:xfrm>
          <a:prstGeom prst="rect">
            <a:avLst/>
          </a:prstGeom>
        </p:spPr>
      </p:pic>
      <p:sp>
        <p:nvSpPr>
          <p:cNvPr id="22" name="Text 16"/>
          <p:cNvSpPr/>
          <p:nvPr/>
        </p:nvSpPr>
        <p:spPr>
          <a:xfrm>
            <a:off x="5696712" y="3438144"/>
            <a:ext cx="2788920" cy="329184"/>
          </a:xfrm>
          <a:prstGeom prst="rect">
            <a:avLst/>
          </a:prstGeom>
          <a:noFill/>
          <a:ln/>
        </p:spPr>
        <p:txBody>
          <a:bodyPr wrap="square" lIns="0" tIns="0" rIns="0" bIns="0" rtlCol="0" anchor="ctr"/>
          <a:lstStyle/>
          <a:p>
            <a:pPr indent="0" marL="0">
              <a:buNone/>
            </a:pPr>
            <a:r>
              <a:rPr lang="en-US" sz="1400" b="1" dirty="0">
                <a:solidFill>
                  <a:srgbClr val="6C5CE7"/>
                </a:solidFill>
                <a:latin typeface="Calibri" pitchFamily="34" charset="0"/>
                <a:ea typeface="Calibri" pitchFamily="34" charset="-122"/>
                <a:cs typeface="Calibri" pitchFamily="34" charset="-120"/>
              </a:rPr>
              <a:t>Product marketers</a:t>
            </a:r>
            <a:endParaRPr lang="en-US" sz="1400" dirty="0"/>
          </a:p>
        </p:txBody>
      </p:sp>
      <p:sp>
        <p:nvSpPr>
          <p:cNvPr id="23" name="Text 17"/>
          <p:cNvSpPr/>
          <p:nvPr/>
        </p:nvSpPr>
        <p:spPr>
          <a:xfrm>
            <a:off x="5696712" y="3785616"/>
            <a:ext cx="2788920" cy="841248"/>
          </a:xfrm>
          <a:prstGeom prst="rect">
            <a:avLst/>
          </a:prstGeom>
          <a:noFill/>
          <a:ln/>
        </p:spPr>
        <p:txBody>
          <a:bodyPr wrap="square" lIns="0" tIns="0" rIns="0" bIns="0" rtlCol="0" anchor="ctr"/>
          <a:lstStyle/>
          <a:p>
            <a:pPr indent="0" marL="0">
              <a:lnSpc>
                <a:spcPct val="104000"/>
              </a:lnSpc>
              <a:buNone/>
            </a:pPr>
            <a:r>
              <a:rPr lang="en-US" sz="1100" dirty="0">
                <a:solidFill>
                  <a:srgbClr val="1A1B36"/>
                </a:solidFill>
                <a:latin typeface="Calibri" pitchFamily="34" charset="0"/>
                <a:ea typeface="Calibri" pitchFamily="34" charset="-122"/>
                <a:cs typeface="Calibri" pitchFamily="34" charset="-120"/>
              </a:rPr>
              <a:t>Positioning, messaging, and battlecards grounded in what customers actually said. Every claim defensible.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50" b="1" spc="300" kern="0" dirty="0">
                <a:solidFill>
                  <a:srgbClr val="1FA97D"/>
                </a:solidFill>
                <a:latin typeface="Calibri" pitchFamily="34" charset="0"/>
                <a:ea typeface="Calibri" pitchFamily="34" charset="-122"/>
                <a:cs typeface="Calibri" pitchFamily="34" charset="-120"/>
              </a:rPr>
              <a:t>THE PAYOFF</a:t>
            </a:r>
            <a:endParaRPr lang="en-US" sz="1150" dirty="0"/>
          </a:p>
        </p:txBody>
      </p:sp>
      <p:sp>
        <p:nvSpPr>
          <p:cNvPr id="3" name="Text 1"/>
          <p:cNvSpPr/>
          <p:nvPr/>
        </p:nvSpPr>
        <p:spPr>
          <a:xfrm>
            <a:off x="548640" y="914400"/>
            <a:ext cx="8229600" cy="1188720"/>
          </a:xfrm>
          <a:prstGeom prst="rect">
            <a:avLst/>
          </a:prstGeom>
          <a:noFill/>
          <a:ln/>
        </p:spPr>
        <p:txBody>
          <a:bodyPr wrap="square" lIns="0" tIns="0" rIns="0" bIns="0" rtlCol="0" anchor="ctr"/>
          <a:lstStyle/>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Better decisions, made faster, that hold up under scrutiny.</a:t>
            </a:r>
            <a:endParaRPr lang="en-US" sz="3200" dirty="0"/>
          </a:p>
        </p:txBody>
      </p:sp>
      <p:sp>
        <p:nvSpPr>
          <p:cNvPr id="4" name="Text 2"/>
          <p:cNvSpPr/>
          <p:nvPr/>
        </p:nvSpPr>
        <p:spPr>
          <a:xfrm>
            <a:off x="566928" y="2240280"/>
            <a:ext cx="8229600" cy="457200"/>
          </a:xfrm>
          <a:prstGeom prst="rect">
            <a:avLst/>
          </a:prstGeom>
          <a:noFill/>
          <a:ln/>
        </p:spPr>
        <p:txBody>
          <a:bodyPr wrap="square" lIns="0" tIns="0" rIns="0" bIns="0" rtlCol="0" anchor="ctr"/>
          <a:lstStyle/>
          <a:p>
            <a:pPr indent="0" marL="0">
              <a:buNone/>
            </a:pPr>
            <a:r>
              <a:rPr lang="en-US" sz="1700" b="1" dirty="0">
                <a:solidFill>
                  <a:srgbClr val="C8CBE8"/>
                </a:solidFill>
                <a:latin typeface="Calibri" pitchFamily="34" charset="0"/>
                <a:ea typeface="Calibri" pitchFamily="34" charset="-122"/>
                <a:cs typeface="Calibri" pitchFamily="34" charset="-120"/>
              </a:rPr>
              <a:t>Because you can show your work all the way down.</a:t>
            </a:r>
            <a:endParaRPr lang="en-US" sz="1700" dirty="0"/>
          </a:p>
        </p:txBody>
      </p:sp>
      <p:sp>
        <p:nvSpPr>
          <p:cNvPr id="5" name="Shape 3"/>
          <p:cNvSpPr/>
          <p:nvPr/>
        </p:nvSpPr>
        <p:spPr>
          <a:xfrm>
            <a:off x="548640" y="3246120"/>
            <a:ext cx="2606040" cy="1005840"/>
          </a:xfrm>
          <a:prstGeom prst="roundRect">
            <a:avLst>
              <a:gd name="adj" fmla="val 9091"/>
            </a:avLst>
          </a:prstGeom>
          <a:solidFill>
            <a:srgbClr val="1E1F44"/>
          </a:solidFill>
          <a:ln/>
          <a:effectLst>
            <a:outerShdw sx="100000" sy="100000" kx="0" ky="0" algn="bl" rotWithShape="0" blurRad="114300" dist="38100" dir="5400000">
              <a:srgbClr val="1A1B36">
                <a:alpha val="14000"/>
              </a:srgbClr>
            </a:outerShdw>
          </a:effectLst>
        </p:spPr>
      </p:sp>
      <p:sp>
        <p:nvSpPr>
          <p:cNvPr id="6" name="Shape 4"/>
          <p:cNvSpPr/>
          <p:nvPr/>
        </p:nvSpPr>
        <p:spPr>
          <a:xfrm>
            <a:off x="786384" y="3557016"/>
            <a:ext cx="384048" cy="384048"/>
          </a:xfrm>
          <a:prstGeom prst="ellipse">
            <a:avLst/>
          </a:prstGeom>
          <a:solidFill>
            <a:srgbClr val="1E1F44"/>
          </a:solidFill>
          <a:ln/>
        </p:spPr>
      </p:sp>
      <p:pic>
        <p:nvPicPr>
          <p:cNvPr id="7" name="Image 0" descr="preencoded.png">    </p:cNvPr>
          <p:cNvPicPr>
            <a:picLocks noChangeAspect="1"/>
          </p:cNvPicPr>
          <p:nvPr/>
        </p:nvPicPr>
        <p:blipFill>
          <a:blip r:embed="rId1"/>
          <a:stretch>
            <a:fillRect/>
          </a:stretch>
        </p:blipFill>
        <p:spPr>
          <a:xfrm>
            <a:off x="877824" y="3648456"/>
            <a:ext cx="201168" cy="201168"/>
          </a:xfrm>
          <a:prstGeom prst="rect">
            <a:avLst/>
          </a:prstGeom>
        </p:spPr>
      </p:pic>
      <p:sp>
        <p:nvSpPr>
          <p:cNvPr id="8" name="Text 5"/>
          <p:cNvSpPr/>
          <p:nvPr/>
        </p:nvSpPr>
        <p:spPr>
          <a:xfrm>
            <a:off x="1261872" y="3383280"/>
            <a:ext cx="1783080" cy="731520"/>
          </a:xfrm>
          <a:prstGeom prst="rect">
            <a:avLst/>
          </a:prstGeom>
          <a:noFill/>
          <a:ln/>
        </p:spPr>
        <p:txBody>
          <a:bodyPr wrap="square" lIns="0" tIns="0" rIns="0" bIns="0" rtlCol="0" anchor="ctr"/>
          <a:lstStyle/>
          <a:p>
            <a:pPr indent="0" marL="0">
              <a:lnSpc>
                <a:spcPct val="104000"/>
              </a:lnSpc>
              <a:buNone/>
            </a:pPr>
            <a:r>
              <a:rPr lang="en-US" sz="1250" b="1" dirty="0">
                <a:solidFill>
                  <a:srgbClr val="FFFFFF"/>
                </a:solidFill>
                <a:latin typeface="Calibri" pitchFamily="34" charset="0"/>
                <a:ea typeface="Calibri" pitchFamily="34" charset="-122"/>
                <a:cs typeface="Calibri" pitchFamily="34" charset="-120"/>
              </a:rPr>
              <a:t>Raw signal to defensible decision</a:t>
            </a:r>
            <a:endParaRPr lang="en-US" sz="1250" dirty="0"/>
          </a:p>
        </p:txBody>
      </p:sp>
      <p:sp>
        <p:nvSpPr>
          <p:cNvPr id="9" name="Shape 6"/>
          <p:cNvSpPr/>
          <p:nvPr/>
        </p:nvSpPr>
        <p:spPr>
          <a:xfrm>
            <a:off x="3337560" y="3246120"/>
            <a:ext cx="2606040" cy="1005840"/>
          </a:xfrm>
          <a:prstGeom prst="roundRect">
            <a:avLst>
              <a:gd name="adj" fmla="val 9091"/>
            </a:avLst>
          </a:prstGeom>
          <a:solidFill>
            <a:srgbClr val="1E1F44"/>
          </a:solidFill>
          <a:ln/>
          <a:effectLst>
            <a:outerShdw sx="100000" sy="100000" kx="0" ky="0" algn="bl" rotWithShape="0" blurRad="114300" dist="38100" dir="5400000">
              <a:srgbClr val="1A1B36">
                <a:alpha val="14000"/>
              </a:srgbClr>
            </a:outerShdw>
          </a:effectLst>
        </p:spPr>
      </p:sp>
      <p:sp>
        <p:nvSpPr>
          <p:cNvPr id="10" name="Shape 7"/>
          <p:cNvSpPr/>
          <p:nvPr/>
        </p:nvSpPr>
        <p:spPr>
          <a:xfrm>
            <a:off x="3575304" y="3557016"/>
            <a:ext cx="384048" cy="384048"/>
          </a:xfrm>
          <a:prstGeom prst="ellipse">
            <a:avLst/>
          </a:prstGeom>
          <a:solidFill>
            <a:srgbClr val="1E1F44"/>
          </a:solidFill>
          <a:ln/>
        </p:spPr>
      </p:sp>
      <p:pic>
        <p:nvPicPr>
          <p:cNvPr id="11" name="Image 1" descr="preencoded.png">    </p:cNvPr>
          <p:cNvPicPr>
            <a:picLocks noChangeAspect="1"/>
          </p:cNvPicPr>
          <p:nvPr/>
        </p:nvPicPr>
        <p:blipFill>
          <a:blip r:embed="rId2"/>
          <a:stretch>
            <a:fillRect/>
          </a:stretch>
        </p:blipFill>
        <p:spPr>
          <a:xfrm>
            <a:off x="3666744" y="3648456"/>
            <a:ext cx="201168" cy="201168"/>
          </a:xfrm>
          <a:prstGeom prst="rect">
            <a:avLst/>
          </a:prstGeom>
        </p:spPr>
      </p:pic>
      <p:sp>
        <p:nvSpPr>
          <p:cNvPr id="12" name="Text 8"/>
          <p:cNvSpPr/>
          <p:nvPr/>
        </p:nvSpPr>
        <p:spPr>
          <a:xfrm>
            <a:off x="4050792" y="3383280"/>
            <a:ext cx="1783080" cy="731520"/>
          </a:xfrm>
          <a:prstGeom prst="rect">
            <a:avLst/>
          </a:prstGeom>
          <a:noFill/>
          <a:ln/>
        </p:spPr>
        <p:txBody>
          <a:bodyPr wrap="square" lIns="0" tIns="0" rIns="0" bIns="0" rtlCol="0" anchor="ctr"/>
          <a:lstStyle/>
          <a:p>
            <a:pPr indent="0" marL="0">
              <a:lnSpc>
                <a:spcPct val="104000"/>
              </a:lnSpc>
              <a:buNone/>
            </a:pPr>
            <a:r>
              <a:rPr lang="en-US" sz="1250" b="1" dirty="0">
                <a:solidFill>
                  <a:srgbClr val="FFFFFF"/>
                </a:solidFill>
                <a:latin typeface="Calibri" pitchFamily="34" charset="0"/>
                <a:ea typeface="Calibri" pitchFamily="34" charset="-122"/>
                <a:cs typeface="Calibri" pitchFamily="34" charset="-120"/>
              </a:rPr>
              <a:t>Every claim traceable to a sentence</a:t>
            </a:r>
            <a:endParaRPr lang="en-US" sz="1250" dirty="0"/>
          </a:p>
        </p:txBody>
      </p:sp>
      <p:sp>
        <p:nvSpPr>
          <p:cNvPr id="13" name="Shape 9"/>
          <p:cNvSpPr/>
          <p:nvPr/>
        </p:nvSpPr>
        <p:spPr>
          <a:xfrm>
            <a:off x="6126480" y="3246120"/>
            <a:ext cx="2606040" cy="1005840"/>
          </a:xfrm>
          <a:prstGeom prst="roundRect">
            <a:avLst>
              <a:gd name="adj" fmla="val 9091"/>
            </a:avLst>
          </a:prstGeom>
          <a:solidFill>
            <a:srgbClr val="1E1F44"/>
          </a:solidFill>
          <a:ln/>
          <a:effectLst>
            <a:outerShdw sx="100000" sy="100000" kx="0" ky="0" algn="bl" rotWithShape="0" blurRad="114300" dist="38100" dir="5400000">
              <a:srgbClr val="1A1B36">
                <a:alpha val="14000"/>
              </a:srgbClr>
            </a:outerShdw>
          </a:effectLst>
        </p:spPr>
      </p:sp>
      <p:sp>
        <p:nvSpPr>
          <p:cNvPr id="14" name="Shape 10"/>
          <p:cNvSpPr/>
          <p:nvPr/>
        </p:nvSpPr>
        <p:spPr>
          <a:xfrm>
            <a:off x="6364224" y="3557016"/>
            <a:ext cx="384048" cy="384048"/>
          </a:xfrm>
          <a:prstGeom prst="ellipse">
            <a:avLst/>
          </a:prstGeom>
          <a:solidFill>
            <a:srgbClr val="1E1F44"/>
          </a:solidFill>
          <a:ln/>
        </p:spPr>
      </p:sp>
      <p:pic>
        <p:nvPicPr>
          <p:cNvPr id="15" name="Image 2" descr="preencoded.png">    </p:cNvPr>
          <p:cNvPicPr>
            <a:picLocks noChangeAspect="1"/>
          </p:cNvPicPr>
          <p:nvPr/>
        </p:nvPicPr>
        <p:blipFill>
          <a:blip r:embed="rId3"/>
          <a:stretch>
            <a:fillRect/>
          </a:stretch>
        </p:blipFill>
        <p:spPr>
          <a:xfrm>
            <a:off x="6455664" y="3648456"/>
            <a:ext cx="201168" cy="201168"/>
          </a:xfrm>
          <a:prstGeom prst="rect">
            <a:avLst/>
          </a:prstGeom>
        </p:spPr>
      </p:pic>
      <p:sp>
        <p:nvSpPr>
          <p:cNvPr id="16" name="Text 11"/>
          <p:cNvSpPr/>
          <p:nvPr/>
        </p:nvSpPr>
        <p:spPr>
          <a:xfrm>
            <a:off x="6839712" y="3383280"/>
            <a:ext cx="1783080" cy="731520"/>
          </a:xfrm>
          <a:prstGeom prst="rect">
            <a:avLst/>
          </a:prstGeom>
          <a:noFill/>
          <a:ln/>
        </p:spPr>
        <p:txBody>
          <a:bodyPr wrap="square" lIns="0" tIns="0" rIns="0" bIns="0" rtlCol="0" anchor="ctr"/>
          <a:lstStyle/>
          <a:p>
            <a:pPr indent="0" marL="0">
              <a:lnSpc>
                <a:spcPct val="104000"/>
              </a:lnSpc>
              <a:buNone/>
            </a:pPr>
            <a:r>
              <a:rPr lang="en-US" sz="1250" b="1" dirty="0">
                <a:solidFill>
                  <a:srgbClr val="FFFFFF"/>
                </a:solidFill>
                <a:latin typeface="Calibri" pitchFamily="34" charset="0"/>
                <a:ea typeface="Calibri" pitchFamily="34" charset="-122"/>
                <a:cs typeface="Calibri" pitchFamily="34" charset="-120"/>
              </a:rPr>
              <a:t>Trust restored across the handoff</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52E"/>
        </a:solidFill>
      </p:bgPr>
    </p:bg>
    <p:spTree>
      <p:nvGrpSpPr>
        <p:cNvPr id="1" name=""/>
        <p:cNvGrpSpPr/>
        <p:nvPr/>
      </p:nvGrpSpPr>
      <p:grpSpPr>
        <a:xfrm>
          <a:off x="0" y="0"/>
          <a:ext cx="0" cy="0"/>
          <a:chOff x="0" y="0"/>
          <a:chExt cx="0" cy="0"/>
        </a:xfrm>
      </p:grpSpPr>
      <p:sp>
        <p:nvSpPr>
          <p:cNvPr id="2" name="Shape 0"/>
          <p:cNvSpPr/>
          <p:nvPr/>
        </p:nvSpPr>
        <p:spPr>
          <a:xfrm>
            <a:off x="548640" y="502920"/>
            <a:ext cx="603504" cy="603504"/>
          </a:xfrm>
          <a:prstGeom prst="ellipse">
            <a:avLst/>
          </a:prstGeom>
          <a:solidFill>
            <a:srgbClr val="1E1F44"/>
          </a:solidFill>
          <a:ln/>
        </p:spPr>
      </p:sp>
      <p:pic>
        <p:nvPicPr>
          <p:cNvPr id="3" name="Image 0" descr="preencoded.png">    </p:cNvPr>
          <p:cNvPicPr>
            <a:picLocks noChangeAspect="1"/>
          </p:cNvPicPr>
          <p:nvPr/>
        </p:nvPicPr>
        <p:blipFill>
          <a:blip r:embed="rId1"/>
          <a:stretch>
            <a:fillRect/>
          </a:stretch>
        </p:blipFill>
        <p:spPr>
          <a:xfrm>
            <a:off x="694944" y="649224"/>
            <a:ext cx="310896" cy="310896"/>
          </a:xfrm>
          <a:prstGeom prst="rect">
            <a:avLst/>
          </a:prstGeom>
        </p:spPr>
      </p:pic>
      <p:sp>
        <p:nvSpPr>
          <p:cNvPr id="4" name="Text 1"/>
          <p:cNvSpPr/>
          <p:nvPr/>
        </p:nvSpPr>
        <p:spPr>
          <a:xfrm>
            <a:off x="1280160" y="548640"/>
            <a:ext cx="54864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DiscOS</a:t>
            </a:r>
            <a:endParaRPr lang="en-US" sz="2600" dirty="0"/>
          </a:p>
        </p:txBody>
      </p:sp>
      <p:sp>
        <p:nvSpPr>
          <p:cNvPr id="5" name="Text 2"/>
          <p:cNvSpPr/>
          <p:nvPr/>
        </p:nvSpPr>
        <p:spPr>
          <a:xfrm>
            <a:off x="548640" y="1828800"/>
            <a:ext cx="8229600" cy="1463040"/>
          </a:xfrm>
          <a:prstGeom prst="rect">
            <a:avLst/>
          </a:prstGeom>
          <a:noFill/>
          <a:ln/>
        </p:spPr>
        <p:txBody>
          <a:bodyPr wrap="square" lIns="0" tIns="0" rIns="0" bIns="0" rtlCol="0" anchor="ctr"/>
          <a:lstStyle/>
          <a:p>
            <a:pPr indent="0" marL="0">
              <a:lnSpc>
                <a:spcPct val="106000"/>
              </a:lnSpc>
              <a:buNone/>
            </a:pPr>
            <a:r>
              <a:rPr lang="en-US" sz="3400" b="1" dirty="0">
                <a:solidFill>
                  <a:srgbClr val="FFFFFF"/>
                </a:solidFill>
                <a:latin typeface="Cambria" pitchFamily="34" charset="0"/>
                <a:ea typeface="Cambria" pitchFamily="34" charset="-122"/>
                <a:cs typeface="Cambria" pitchFamily="34" charset="-120"/>
              </a:rPr>
              <a:t>The trust layer between your raw signal and everything you build from it.</a:t>
            </a:r>
            <a:endParaRPr lang="en-US" sz="3400" dirty="0"/>
          </a:p>
        </p:txBody>
      </p:sp>
      <p:sp>
        <p:nvSpPr>
          <p:cNvPr id="6" name="Text 3"/>
          <p:cNvSpPr/>
          <p:nvPr/>
        </p:nvSpPr>
        <p:spPr>
          <a:xfrm>
            <a:off x="566928" y="4069080"/>
            <a:ext cx="5486400" cy="365760"/>
          </a:xfrm>
          <a:prstGeom prst="rect">
            <a:avLst/>
          </a:prstGeom>
          <a:noFill/>
          <a:ln/>
        </p:spPr>
        <p:txBody>
          <a:bodyPr wrap="square" lIns="0" tIns="0" rIns="0" bIns="0" rtlCol="0" anchor="ctr"/>
          <a:lstStyle/>
          <a:p>
            <a:pPr indent="0" marL="0">
              <a:buNone/>
            </a:pPr>
            <a:r>
              <a:rPr lang="en-US" sz="1500" b="1" spc="100" kern="0" dirty="0">
                <a:solidFill>
                  <a:srgbClr val="6C5CE7"/>
                </a:solidFill>
                <a:latin typeface="Calibri" pitchFamily="34" charset="0"/>
                <a:ea typeface="Calibri" pitchFamily="34" charset="-122"/>
                <a:cs typeface="Calibri" pitchFamily="34" charset="-120"/>
              </a:rPr>
              <a:t>getdiscos.com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DiscOS — value deck</dc:title>
  <dc:subject>PptxGenJS Presentation</dc:subject>
  <dc:creator>DiscOS</dc:creator>
  <cp:lastModifiedBy>DiscOS</cp:lastModifiedBy>
  <cp:revision>1</cp:revision>
  <dcterms:created xsi:type="dcterms:W3CDTF">2026-06-23T07:03:38Z</dcterms:created>
  <dcterms:modified xsi:type="dcterms:W3CDTF">2026-06-23T07:03:38Z</dcterms:modified>
</cp:coreProperties>
</file>