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category, not the product. The promise: one source of proof your whole org is accountable to. Frame the room: research, design, product, sales, success, and leadership all make decisions, and each runs on its own version of the truth. The deck makes the case; the app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room's reality. Each function has a different source of truth, so handoffs leak and alignment is constant re-litigation. Read the two rows that match the people in front of you. This is felt weekly; let it sting before the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Challenger teach. Do not flatter them; show them a blind spot they did not know they had. They are not short on documents, they are short on documents anyone can defend. Pause on the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AI tide as the enemy of trust, not the hero. Everyone has more confident, unverifiable content than ever. That makes provable lineage the scarce thing, and the scarce thing is where the category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line. Pause after 'Not a repository. A spine.' Everyone claims single source of truth; storage is commoditised. The defensible move is that everything traces back. This is the centre pivot they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the key point: the round trip. Any team can start from their own artifact and trace it down to the exact sentence. App cue: click a citation in a generated doc and land on the source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live-demo beat. Switch to the app, open a real document, click a citation, and let the customer quote appear with the speaker named. This is the moment that sells the category, because no generic AI tool can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idea made concrete: every department pulls from the same well. Lead with the seat in the room, then show it travels. The thread: each one has to defend a decision, and they all draw on the same provable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outcome in their language: one truth, many altitudes, all traceable. The exec readout and the IC's PRD draw on the same evidence, so they never diverge. Repeat this sentence at the close of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category claim, then hand to the live app. The ask: become the source of proof at the centre of their org. Let the product carry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50292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FOR RESEARCH, DESIGN, PRODUCT &amp; GTM LEADERS</a:t>
            </a:r>
            <a:endParaRPr lang="en-US" sz="1150" dirty="0"/>
          </a:p>
        </p:txBody>
      </p:sp>
      <p:sp>
        <p:nvSpPr>
          <p:cNvPr id="3" name="Text 1"/>
          <p:cNvSpPr/>
          <p:nvPr/>
        </p:nvSpPr>
        <p:spPr>
          <a:xfrm>
            <a:off x="548640" y="914400"/>
            <a:ext cx="8229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One source of proof.</a:t>
            </a:r>
            <a:endParaRPr lang="en-US" sz="5000" dirty="0"/>
          </a:p>
        </p:txBody>
      </p:sp>
      <p:sp>
        <p:nvSpPr>
          <p:cNvPr id="4" name="Text 2"/>
          <p:cNvSpPr/>
          <p:nvPr/>
        </p:nvSpPr>
        <p:spPr>
          <a:xfrm>
            <a:off x="548640" y="1965960"/>
            <a:ext cx="8138160" cy="914400"/>
          </a:xfrm>
          <a:prstGeom prst="rect">
            <a:avLst/>
          </a:prstGeom>
          <a:noFill/>
          <a:ln/>
        </p:spPr>
        <p:txBody>
          <a:bodyPr wrap="square" lIns="0" tIns="0" rIns="0" bIns="0" rtlCol="0" anchor="ctr"/>
          <a:lstStyle/>
          <a:p>
            <a:pPr indent="0" marL="0">
              <a:lnSpc>
                <a:spcPct val="106000"/>
              </a:lnSpc>
              <a:buNone/>
            </a:pPr>
            <a:r>
              <a:rPr lang="en-US" sz="2600" dirty="0">
                <a:solidFill>
                  <a:srgbClr val="FFFFFF"/>
                </a:solidFill>
                <a:latin typeface="Cambria" pitchFamily="34" charset="0"/>
                <a:ea typeface="Cambria" pitchFamily="34" charset="-122"/>
                <a:cs typeface="Cambria" pitchFamily="34" charset="-120"/>
              </a:rPr>
              <a:t>The centre your whole org pulls from, and can trace every claim back to.</a:t>
            </a:r>
            <a:endParaRPr lang="en-US" sz="2600" dirty="0"/>
          </a:p>
        </p:txBody>
      </p:sp>
      <p:sp>
        <p:nvSpPr>
          <p:cNvPr id="5" name="Text 3"/>
          <p:cNvSpPr/>
          <p:nvPr/>
        </p:nvSpPr>
        <p:spPr>
          <a:xfrm>
            <a:off x="566928" y="3063240"/>
            <a:ext cx="7863840" cy="548640"/>
          </a:xfrm>
          <a:prstGeom prst="rect">
            <a:avLst/>
          </a:prstGeom>
          <a:noFill/>
          <a:ln/>
        </p:spPr>
        <p:txBody>
          <a:bodyPr wrap="square" lIns="0" tIns="0" rIns="0" bIns="0" rtlCol="0" anchor="ctr"/>
          <a:lstStyle/>
          <a:p>
            <a:pPr indent="0" marL="0">
              <a:lnSpc>
                <a:spcPct val="110000"/>
              </a:lnSpc>
              <a:buNone/>
            </a:pPr>
            <a:r>
              <a:rPr lang="en-US" sz="1500" dirty="0">
                <a:solidFill>
                  <a:srgbClr val="C8CBE8"/>
                </a:solidFill>
                <a:latin typeface="Calibri" pitchFamily="34" charset="0"/>
                <a:ea typeface="Calibri" pitchFamily="34" charset="-122"/>
                <a:cs typeface="Calibri" pitchFamily="34" charset="-120"/>
              </a:rPr>
              <a:t>Stop running every team on its own version of the truth.</a:t>
            </a:r>
            <a:endParaRPr lang="en-US" sz="1500" dirty="0"/>
          </a:p>
        </p:txBody>
      </p:sp>
      <p:sp>
        <p:nvSpPr>
          <p:cNvPr id="6" name="Shape 4"/>
          <p:cNvSpPr/>
          <p:nvPr/>
        </p:nvSpPr>
        <p:spPr>
          <a:xfrm>
            <a:off x="1060704" y="4389120"/>
            <a:ext cx="621792" cy="0"/>
          </a:xfrm>
          <a:prstGeom prst="line">
            <a:avLst/>
          </a:prstGeom>
          <a:noFill/>
          <a:ln w="19050">
            <a:solidFill>
              <a:srgbClr val="3A3C66"/>
            </a:solidFill>
            <a:prstDash val="solid"/>
          </a:ln>
        </p:spPr>
      </p:sp>
      <p:sp>
        <p:nvSpPr>
          <p:cNvPr id="7" name="Shape 5"/>
          <p:cNvSpPr/>
          <p:nvPr/>
        </p:nvSpPr>
        <p:spPr>
          <a:xfrm>
            <a:off x="2139696" y="4389120"/>
            <a:ext cx="621792" cy="0"/>
          </a:xfrm>
          <a:prstGeom prst="line">
            <a:avLst/>
          </a:prstGeom>
          <a:noFill/>
          <a:ln w="19050">
            <a:solidFill>
              <a:srgbClr val="3A3C66"/>
            </a:solidFill>
            <a:prstDash val="solid"/>
          </a:ln>
        </p:spPr>
      </p:sp>
      <p:sp>
        <p:nvSpPr>
          <p:cNvPr id="8" name="Shape 6"/>
          <p:cNvSpPr/>
          <p:nvPr/>
        </p:nvSpPr>
        <p:spPr>
          <a:xfrm>
            <a:off x="3218688" y="4389120"/>
            <a:ext cx="621792" cy="0"/>
          </a:xfrm>
          <a:prstGeom prst="line">
            <a:avLst/>
          </a:prstGeom>
          <a:noFill/>
          <a:ln w="19050">
            <a:solidFill>
              <a:srgbClr val="3A3C66"/>
            </a:solidFill>
            <a:prstDash val="solid"/>
          </a:ln>
        </p:spPr>
      </p:sp>
      <p:sp>
        <p:nvSpPr>
          <p:cNvPr id="9" name="Shape 7"/>
          <p:cNvSpPr/>
          <p:nvPr/>
        </p:nvSpPr>
        <p:spPr>
          <a:xfrm>
            <a:off x="4297680" y="4389120"/>
            <a:ext cx="621792" cy="0"/>
          </a:xfrm>
          <a:prstGeom prst="line">
            <a:avLst/>
          </a:prstGeom>
          <a:noFill/>
          <a:ln w="19050">
            <a:solidFill>
              <a:srgbClr val="3A3C66"/>
            </a:solidFill>
            <a:prstDash val="solid"/>
          </a:ln>
        </p:spPr>
      </p:sp>
      <p:sp>
        <p:nvSpPr>
          <p:cNvPr id="10" name="Shape 8"/>
          <p:cNvSpPr/>
          <p:nvPr/>
        </p:nvSpPr>
        <p:spPr>
          <a:xfrm>
            <a:off x="603504" y="4160520"/>
            <a:ext cx="457200" cy="457200"/>
          </a:xfrm>
          <a:prstGeom prst="ellipse">
            <a:avLst/>
          </a:prstGeom>
          <a:solidFill>
            <a:srgbClr val="1E1F44"/>
          </a:solidFill>
          <a:ln/>
        </p:spPr>
      </p:sp>
      <p:pic>
        <p:nvPicPr>
          <p:cNvPr id="11" name="Image 0" descr="preencoded.png">    </p:cNvPr>
          <p:cNvPicPr>
            <a:picLocks noChangeAspect="1"/>
          </p:cNvPicPr>
          <p:nvPr/>
        </p:nvPicPr>
        <p:blipFill>
          <a:blip r:embed="rId1"/>
          <a:stretch>
            <a:fillRect/>
          </a:stretch>
        </p:blipFill>
        <p:spPr>
          <a:xfrm>
            <a:off x="731520" y="4288536"/>
            <a:ext cx="201168" cy="201168"/>
          </a:xfrm>
          <a:prstGeom prst="rect">
            <a:avLst/>
          </a:prstGeom>
        </p:spPr>
      </p:pic>
      <p:sp>
        <p:nvSpPr>
          <p:cNvPr id="12" name="Shape 9"/>
          <p:cNvSpPr/>
          <p:nvPr/>
        </p:nvSpPr>
        <p:spPr>
          <a:xfrm>
            <a:off x="1682496" y="4160520"/>
            <a:ext cx="457200" cy="457200"/>
          </a:xfrm>
          <a:prstGeom prst="ellipse">
            <a:avLst/>
          </a:prstGeom>
          <a:solidFill>
            <a:srgbClr val="1E1F44"/>
          </a:solidFill>
          <a:ln/>
        </p:spPr>
      </p:sp>
      <p:pic>
        <p:nvPicPr>
          <p:cNvPr id="13" name="Image 1" descr="preencoded.png">    </p:cNvPr>
          <p:cNvPicPr>
            <a:picLocks noChangeAspect="1"/>
          </p:cNvPicPr>
          <p:nvPr/>
        </p:nvPicPr>
        <p:blipFill>
          <a:blip r:embed="rId2"/>
          <a:stretch>
            <a:fillRect/>
          </a:stretch>
        </p:blipFill>
        <p:spPr>
          <a:xfrm>
            <a:off x="1810512" y="4288536"/>
            <a:ext cx="201168" cy="201168"/>
          </a:xfrm>
          <a:prstGeom prst="rect">
            <a:avLst/>
          </a:prstGeom>
        </p:spPr>
      </p:pic>
      <p:sp>
        <p:nvSpPr>
          <p:cNvPr id="14" name="Shape 10"/>
          <p:cNvSpPr/>
          <p:nvPr/>
        </p:nvSpPr>
        <p:spPr>
          <a:xfrm>
            <a:off x="2761488" y="4160520"/>
            <a:ext cx="457200" cy="457200"/>
          </a:xfrm>
          <a:prstGeom prst="ellipse">
            <a:avLst/>
          </a:prstGeom>
          <a:solidFill>
            <a:srgbClr val="1E1F44"/>
          </a:solidFill>
          <a:ln/>
        </p:spPr>
      </p:sp>
      <p:pic>
        <p:nvPicPr>
          <p:cNvPr id="15" name="Image 2" descr="preencoded.png">    </p:cNvPr>
          <p:cNvPicPr>
            <a:picLocks noChangeAspect="1"/>
          </p:cNvPicPr>
          <p:nvPr/>
        </p:nvPicPr>
        <p:blipFill>
          <a:blip r:embed="rId3"/>
          <a:stretch>
            <a:fillRect/>
          </a:stretch>
        </p:blipFill>
        <p:spPr>
          <a:xfrm>
            <a:off x="2889504" y="4288536"/>
            <a:ext cx="201168" cy="201168"/>
          </a:xfrm>
          <a:prstGeom prst="rect">
            <a:avLst/>
          </a:prstGeom>
        </p:spPr>
      </p:pic>
      <p:sp>
        <p:nvSpPr>
          <p:cNvPr id="16" name="Shape 11"/>
          <p:cNvSpPr/>
          <p:nvPr/>
        </p:nvSpPr>
        <p:spPr>
          <a:xfrm>
            <a:off x="3840480" y="4160520"/>
            <a:ext cx="457200" cy="457200"/>
          </a:xfrm>
          <a:prstGeom prst="ellipse">
            <a:avLst/>
          </a:prstGeom>
          <a:solidFill>
            <a:srgbClr val="1E1F44"/>
          </a:solidFill>
          <a:ln/>
        </p:spPr>
      </p:sp>
      <p:pic>
        <p:nvPicPr>
          <p:cNvPr id="17" name="Image 3" descr="preencoded.png">    </p:cNvPr>
          <p:cNvPicPr>
            <a:picLocks noChangeAspect="1"/>
          </p:cNvPicPr>
          <p:nvPr/>
        </p:nvPicPr>
        <p:blipFill>
          <a:blip r:embed="rId4"/>
          <a:stretch>
            <a:fillRect/>
          </a:stretch>
        </p:blipFill>
        <p:spPr>
          <a:xfrm>
            <a:off x="3968496" y="4288536"/>
            <a:ext cx="201168" cy="201168"/>
          </a:xfrm>
          <a:prstGeom prst="rect">
            <a:avLst/>
          </a:prstGeom>
        </p:spPr>
      </p:pic>
      <p:sp>
        <p:nvSpPr>
          <p:cNvPr id="18" name="Shape 12"/>
          <p:cNvSpPr/>
          <p:nvPr/>
        </p:nvSpPr>
        <p:spPr>
          <a:xfrm>
            <a:off x="4919472" y="4160520"/>
            <a:ext cx="457200" cy="457200"/>
          </a:xfrm>
          <a:prstGeom prst="ellipse">
            <a:avLst/>
          </a:prstGeom>
          <a:solidFill>
            <a:srgbClr val="1E1F44"/>
          </a:solidFill>
          <a:ln/>
        </p:spPr>
      </p:sp>
      <p:pic>
        <p:nvPicPr>
          <p:cNvPr id="19" name="Image 4" descr="preencoded.png">    </p:cNvPr>
          <p:cNvPicPr>
            <a:picLocks noChangeAspect="1"/>
          </p:cNvPicPr>
          <p:nvPr/>
        </p:nvPicPr>
        <p:blipFill>
          <a:blip r:embed="rId5"/>
          <a:stretch>
            <a:fillRect/>
          </a:stretch>
        </p:blipFill>
        <p:spPr>
          <a:xfrm>
            <a:off x="5047488" y="4288536"/>
            <a:ext cx="201168" cy="201168"/>
          </a:xfrm>
          <a:prstGeom prst="rect">
            <a:avLst/>
          </a:prstGeom>
        </p:spPr>
      </p:pic>
      <p:sp>
        <p:nvSpPr>
          <p:cNvPr id="20" name="Text 13"/>
          <p:cNvSpPr/>
          <p:nvPr/>
        </p:nvSpPr>
        <p:spPr>
          <a:xfrm>
            <a:off x="6044184" y="4270248"/>
            <a:ext cx="2560320" cy="274320"/>
          </a:xfrm>
          <a:prstGeom prst="rect">
            <a:avLst/>
          </a:prstGeom>
          <a:noFill/>
          <a:ln/>
        </p:spPr>
        <p:txBody>
          <a:bodyPr wrap="square" lIns="0" tIns="0" rIns="0" bIns="0" rtlCol="0" anchor="ctr"/>
          <a:lstStyle/>
          <a:p>
            <a:pPr indent="0" marL="0">
              <a:buNone/>
            </a:pPr>
            <a:r>
              <a:rPr lang="en-US" sz="1150" i="1" dirty="0">
                <a:solidFill>
                  <a:srgbClr val="C8CBE8"/>
                </a:solidFill>
                <a:latin typeface="Calibri" pitchFamily="34" charset="0"/>
                <a:ea typeface="Calibri" pitchFamily="34" charset="-122"/>
                <a:cs typeface="Calibri" pitchFamily="34" charset="-120"/>
              </a:rPr>
              <a:t>one spine, every team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FRACTURE</a:t>
            </a:r>
            <a:endParaRPr lang="en-US" sz="1150" dirty="0"/>
          </a:p>
        </p:txBody>
      </p:sp>
      <p:sp>
        <p:nvSpPr>
          <p:cNvPr id="3" name="Text 1"/>
          <p:cNvSpPr/>
          <p:nvPr/>
        </p:nvSpPr>
        <p:spPr>
          <a:xfrm>
            <a:off x="548640" y="822960"/>
            <a:ext cx="822960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Every team runs on its own version of the truth.</a:t>
            </a:r>
            <a:endParaRPr lang="en-US" sz="2900" dirty="0"/>
          </a:p>
        </p:txBody>
      </p:sp>
      <p:sp>
        <p:nvSpPr>
          <p:cNvPr id="4" name="Shape 2"/>
          <p:cNvSpPr/>
          <p:nvPr/>
        </p:nvSpPr>
        <p:spPr>
          <a:xfrm>
            <a:off x="548640" y="1627632"/>
            <a:ext cx="3886200" cy="1170432"/>
          </a:xfrm>
          <a:prstGeom prst="roundRect">
            <a:avLst>
              <a:gd name="adj" fmla="val 7031"/>
            </a:avLst>
          </a:prstGeom>
          <a:solidFill>
            <a:srgbClr val="1E1F44"/>
          </a:solidFill>
          <a:ln/>
          <a:effectLst>
            <a:outerShdw sx="100000" sy="100000" kx="0" ky="0" algn="bl" rotWithShape="0" blurRad="114300" dist="38100" dir="5400000">
              <a:srgbClr val="1A1B36">
                <a:alpha val="14000"/>
              </a:srgbClr>
            </a:outerShdw>
          </a:effectLst>
        </p:spPr>
      </p:sp>
      <p:sp>
        <p:nvSpPr>
          <p:cNvPr id="5" name="Shape 3"/>
          <p:cNvSpPr/>
          <p:nvPr/>
        </p:nvSpPr>
        <p:spPr>
          <a:xfrm>
            <a:off x="804672" y="1911096"/>
            <a:ext cx="603504" cy="603504"/>
          </a:xfrm>
          <a:prstGeom prst="ellipse">
            <a:avLst/>
          </a:prstGeom>
          <a:solidFill>
            <a:srgbClr val="6C5CE7"/>
          </a:solidFill>
          <a:ln/>
        </p:spPr>
      </p:sp>
      <p:pic>
        <p:nvPicPr>
          <p:cNvPr id="6" name="Image 0" descr="preencoded.png">    </p:cNvPr>
          <p:cNvPicPr>
            <a:picLocks noChangeAspect="1"/>
          </p:cNvPicPr>
          <p:nvPr/>
        </p:nvPicPr>
        <p:blipFill>
          <a:blip r:embed="rId1"/>
          <a:stretch>
            <a:fillRect/>
          </a:stretch>
        </p:blipFill>
        <p:spPr>
          <a:xfrm>
            <a:off x="969264" y="2075688"/>
            <a:ext cx="274320" cy="274320"/>
          </a:xfrm>
          <a:prstGeom prst="rect">
            <a:avLst/>
          </a:prstGeom>
        </p:spPr>
      </p:pic>
      <p:sp>
        <p:nvSpPr>
          <p:cNvPr id="7" name="Text 4"/>
          <p:cNvSpPr/>
          <p:nvPr/>
        </p:nvSpPr>
        <p:spPr>
          <a:xfrm>
            <a:off x="1572768" y="1792224"/>
            <a:ext cx="26974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Research</a:t>
            </a:r>
            <a:endParaRPr lang="en-US" sz="1450" dirty="0"/>
          </a:p>
        </p:txBody>
      </p:sp>
      <p:sp>
        <p:nvSpPr>
          <p:cNvPr id="8" name="Text 5"/>
          <p:cNvSpPr/>
          <p:nvPr/>
        </p:nvSpPr>
        <p:spPr>
          <a:xfrm>
            <a:off x="1572768" y="2157984"/>
            <a:ext cx="2697480" cy="548640"/>
          </a:xfrm>
          <a:prstGeom prst="rect">
            <a:avLst/>
          </a:prstGeom>
          <a:noFill/>
          <a:ln/>
        </p:spPr>
        <p:txBody>
          <a:bodyPr wrap="square" lIns="0" tIns="0" rIns="0" bIns="0" rtlCol="0" anchor="ctr"/>
          <a:lstStyle/>
          <a:p>
            <a:pPr indent="0" marL="0">
              <a:lnSpc>
                <a:spcPct val="105000"/>
              </a:lnSpc>
              <a:buNone/>
            </a:pPr>
            <a:r>
              <a:rPr lang="en-US" sz="1150" dirty="0">
                <a:solidFill>
                  <a:srgbClr val="C8CBE8"/>
                </a:solidFill>
                <a:latin typeface="Calibri" pitchFamily="34" charset="0"/>
                <a:ea typeface="Calibri" pitchFamily="34" charset="-122"/>
                <a:cs typeface="Calibri" pitchFamily="34" charset="-120"/>
              </a:rPr>
              <a:t>Hard-won insight dies in a repository nobody reopens.</a:t>
            </a:r>
            <a:endParaRPr lang="en-US" sz="1150" dirty="0"/>
          </a:p>
        </p:txBody>
      </p:sp>
      <p:sp>
        <p:nvSpPr>
          <p:cNvPr id="9" name="Shape 6"/>
          <p:cNvSpPr/>
          <p:nvPr/>
        </p:nvSpPr>
        <p:spPr>
          <a:xfrm>
            <a:off x="4709160" y="1627632"/>
            <a:ext cx="3886200" cy="1170432"/>
          </a:xfrm>
          <a:prstGeom prst="roundRect">
            <a:avLst>
              <a:gd name="adj" fmla="val 7031"/>
            </a:avLst>
          </a:prstGeom>
          <a:solidFill>
            <a:srgbClr val="1E1F44"/>
          </a:solidFill>
          <a:ln/>
          <a:effectLst>
            <a:outerShdw sx="100000" sy="100000" kx="0" ky="0" algn="bl" rotWithShape="0" blurRad="114300" dist="38100" dir="5400000">
              <a:srgbClr val="1A1B36">
                <a:alpha val="14000"/>
              </a:srgbClr>
            </a:outerShdw>
          </a:effectLst>
        </p:spPr>
      </p:sp>
      <p:sp>
        <p:nvSpPr>
          <p:cNvPr id="10" name="Shape 7"/>
          <p:cNvSpPr/>
          <p:nvPr/>
        </p:nvSpPr>
        <p:spPr>
          <a:xfrm>
            <a:off x="4965192" y="1911096"/>
            <a:ext cx="603504" cy="603504"/>
          </a:xfrm>
          <a:prstGeom prst="ellipse">
            <a:avLst/>
          </a:prstGeom>
          <a:solidFill>
            <a:srgbClr val="6C5CE7"/>
          </a:solidFill>
          <a:ln/>
        </p:spPr>
      </p:sp>
      <p:pic>
        <p:nvPicPr>
          <p:cNvPr id="11" name="Image 1" descr="preencoded.png">    </p:cNvPr>
          <p:cNvPicPr>
            <a:picLocks noChangeAspect="1"/>
          </p:cNvPicPr>
          <p:nvPr/>
        </p:nvPicPr>
        <p:blipFill>
          <a:blip r:embed="rId2"/>
          <a:stretch>
            <a:fillRect/>
          </a:stretch>
        </p:blipFill>
        <p:spPr>
          <a:xfrm>
            <a:off x="5129784" y="2075688"/>
            <a:ext cx="274320" cy="274320"/>
          </a:xfrm>
          <a:prstGeom prst="rect">
            <a:avLst/>
          </a:prstGeom>
        </p:spPr>
      </p:pic>
      <p:sp>
        <p:nvSpPr>
          <p:cNvPr id="12" name="Text 8"/>
          <p:cNvSpPr/>
          <p:nvPr/>
        </p:nvSpPr>
        <p:spPr>
          <a:xfrm>
            <a:off x="5733288" y="1792224"/>
            <a:ext cx="26974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Product</a:t>
            </a:r>
            <a:endParaRPr lang="en-US" sz="1450" dirty="0"/>
          </a:p>
        </p:txBody>
      </p:sp>
      <p:sp>
        <p:nvSpPr>
          <p:cNvPr id="13" name="Text 9"/>
          <p:cNvSpPr/>
          <p:nvPr/>
        </p:nvSpPr>
        <p:spPr>
          <a:xfrm>
            <a:off x="5733288" y="2157984"/>
            <a:ext cx="2697480" cy="548640"/>
          </a:xfrm>
          <a:prstGeom prst="rect">
            <a:avLst/>
          </a:prstGeom>
          <a:noFill/>
          <a:ln/>
        </p:spPr>
        <p:txBody>
          <a:bodyPr wrap="square" lIns="0" tIns="0" rIns="0" bIns="0" rtlCol="0" anchor="ctr"/>
          <a:lstStyle/>
          <a:p>
            <a:pPr indent="0" marL="0">
              <a:lnSpc>
                <a:spcPct val="105000"/>
              </a:lnSpc>
              <a:buNone/>
            </a:pPr>
            <a:r>
              <a:rPr lang="en-US" sz="1150" dirty="0">
                <a:solidFill>
                  <a:srgbClr val="C8CBE8"/>
                </a:solidFill>
                <a:latin typeface="Calibri" pitchFamily="34" charset="0"/>
                <a:ea typeface="Calibri" pitchFamily="34" charset="-122"/>
                <a:cs typeface="Calibri" pitchFamily="34" charset="-120"/>
              </a:rPr>
              <a:t>The roadmap follows the loudest voice in the room.</a:t>
            </a:r>
            <a:endParaRPr lang="en-US" sz="1150" dirty="0"/>
          </a:p>
        </p:txBody>
      </p:sp>
      <p:sp>
        <p:nvSpPr>
          <p:cNvPr id="14" name="Shape 10"/>
          <p:cNvSpPr/>
          <p:nvPr/>
        </p:nvSpPr>
        <p:spPr>
          <a:xfrm>
            <a:off x="548640" y="2999232"/>
            <a:ext cx="3886200" cy="1170432"/>
          </a:xfrm>
          <a:prstGeom prst="roundRect">
            <a:avLst>
              <a:gd name="adj" fmla="val 7031"/>
            </a:avLst>
          </a:prstGeom>
          <a:solidFill>
            <a:srgbClr val="1E1F44"/>
          </a:solidFill>
          <a:ln/>
          <a:effectLst>
            <a:outerShdw sx="100000" sy="100000" kx="0" ky="0" algn="bl" rotWithShape="0" blurRad="114300" dist="38100" dir="5400000">
              <a:srgbClr val="1A1B36">
                <a:alpha val="14000"/>
              </a:srgbClr>
            </a:outerShdw>
          </a:effectLst>
        </p:spPr>
      </p:sp>
      <p:sp>
        <p:nvSpPr>
          <p:cNvPr id="15" name="Shape 11"/>
          <p:cNvSpPr/>
          <p:nvPr/>
        </p:nvSpPr>
        <p:spPr>
          <a:xfrm>
            <a:off x="804672" y="3282696"/>
            <a:ext cx="603504" cy="603504"/>
          </a:xfrm>
          <a:prstGeom prst="ellipse">
            <a:avLst/>
          </a:prstGeom>
          <a:solidFill>
            <a:srgbClr val="6C5CE7"/>
          </a:solidFill>
          <a:ln/>
        </p:spPr>
      </p:sp>
      <p:pic>
        <p:nvPicPr>
          <p:cNvPr id="16" name="Image 2" descr="preencoded.png">    </p:cNvPr>
          <p:cNvPicPr>
            <a:picLocks noChangeAspect="1"/>
          </p:cNvPicPr>
          <p:nvPr/>
        </p:nvPicPr>
        <p:blipFill>
          <a:blip r:embed="rId3"/>
          <a:stretch>
            <a:fillRect/>
          </a:stretch>
        </p:blipFill>
        <p:spPr>
          <a:xfrm>
            <a:off x="969264" y="3447288"/>
            <a:ext cx="274320" cy="274320"/>
          </a:xfrm>
          <a:prstGeom prst="rect">
            <a:avLst/>
          </a:prstGeom>
        </p:spPr>
      </p:pic>
      <p:sp>
        <p:nvSpPr>
          <p:cNvPr id="17" name="Text 12"/>
          <p:cNvSpPr/>
          <p:nvPr/>
        </p:nvSpPr>
        <p:spPr>
          <a:xfrm>
            <a:off x="1572768" y="3163824"/>
            <a:ext cx="26974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Sales</a:t>
            </a:r>
            <a:endParaRPr lang="en-US" sz="1450" dirty="0"/>
          </a:p>
        </p:txBody>
      </p:sp>
      <p:sp>
        <p:nvSpPr>
          <p:cNvPr id="18" name="Text 13"/>
          <p:cNvSpPr/>
          <p:nvPr/>
        </p:nvSpPr>
        <p:spPr>
          <a:xfrm>
            <a:off x="1572768" y="3529584"/>
            <a:ext cx="2697480" cy="548640"/>
          </a:xfrm>
          <a:prstGeom prst="rect">
            <a:avLst/>
          </a:prstGeom>
          <a:noFill/>
          <a:ln/>
        </p:spPr>
        <p:txBody>
          <a:bodyPr wrap="square" lIns="0" tIns="0" rIns="0" bIns="0" rtlCol="0" anchor="ctr"/>
          <a:lstStyle/>
          <a:p>
            <a:pPr indent="0" marL="0">
              <a:lnSpc>
                <a:spcPct val="105000"/>
              </a:lnSpc>
              <a:buNone/>
            </a:pPr>
            <a:r>
              <a:rPr lang="en-US" sz="1150" dirty="0">
                <a:solidFill>
                  <a:srgbClr val="C8CBE8"/>
                </a:solidFill>
                <a:latin typeface="Calibri" pitchFamily="34" charset="0"/>
                <a:ea typeface="Calibri" pitchFamily="34" charset="-122"/>
                <a:cs typeface="Calibri" pitchFamily="34" charset="-120"/>
              </a:rPr>
              <a:t>Reps pitch from gut and stale battlecards, not the customer's words.</a:t>
            </a:r>
            <a:endParaRPr lang="en-US" sz="1150" dirty="0"/>
          </a:p>
        </p:txBody>
      </p:sp>
      <p:sp>
        <p:nvSpPr>
          <p:cNvPr id="19" name="Shape 14"/>
          <p:cNvSpPr/>
          <p:nvPr/>
        </p:nvSpPr>
        <p:spPr>
          <a:xfrm>
            <a:off x="4709160" y="2999232"/>
            <a:ext cx="3886200" cy="1170432"/>
          </a:xfrm>
          <a:prstGeom prst="roundRect">
            <a:avLst>
              <a:gd name="adj" fmla="val 7031"/>
            </a:avLst>
          </a:prstGeom>
          <a:solidFill>
            <a:srgbClr val="1E1F44"/>
          </a:solidFill>
          <a:ln/>
          <a:effectLst>
            <a:outerShdw sx="100000" sy="100000" kx="0" ky="0" algn="bl" rotWithShape="0" blurRad="114300" dist="38100" dir="5400000">
              <a:srgbClr val="1A1B36">
                <a:alpha val="14000"/>
              </a:srgbClr>
            </a:outerShdw>
          </a:effectLst>
        </p:spPr>
      </p:sp>
      <p:sp>
        <p:nvSpPr>
          <p:cNvPr id="20" name="Shape 15"/>
          <p:cNvSpPr/>
          <p:nvPr/>
        </p:nvSpPr>
        <p:spPr>
          <a:xfrm>
            <a:off x="4965192" y="3282696"/>
            <a:ext cx="603504" cy="603504"/>
          </a:xfrm>
          <a:prstGeom prst="ellipse">
            <a:avLst/>
          </a:prstGeom>
          <a:solidFill>
            <a:srgbClr val="6C5CE7"/>
          </a:solidFill>
          <a:ln/>
        </p:spPr>
      </p:sp>
      <p:pic>
        <p:nvPicPr>
          <p:cNvPr id="21" name="Image 3" descr="preencoded.png">    </p:cNvPr>
          <p:cNvPicPr>
            <a:picLocks noChangeAspect="1"/>
          </p:cNvPicPr>
          <p:nvPr/>
        </p:nvPicPr>
        <p:blipFill>
          <a:blip r:embed="rId4"/>
          <a:stretch>
            <a:fillRect/>
          </a:stretch>
        </p:blipFill>
        <p:spPr>
          <a:xfrm>
            <a:off x="5129784" y="3447288"/>
            <a:ext cx="274320" cy="274320"/>
          </a:xfrm>
          <a:prstGeom prst="rect">
            <a:avLst/>
          </a:prstGeom>
        </p:spPr>
      </p:pic>
      <p:sp>
        <p:nvSpPr>
          <p:cNvPr id="22" name="Text 16"/>
          <p:cNvSpPr/>
          <p:nvPr/>
        </p:nvSpPr>
        <p:spPr>
          <a:xfrm>
            <a:off x="5733288" y="3163824"/>
            <a:ext cx="26974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Design, success, leadership</a:t>
            </a:r>
            <a:endParaRPr lang="en-US" sz="1450" dirty="0"/>
          </a:p>
        </p:txBody>
      </p:sp>
      <p:sp>
        <p:nvSpPr>
          <p:cNvPr id="23" name="Text 17"/>
          <p:cNvSpPr/>
          <p:nvPr/>
        </p:nvSpPr>
        <p:spPr>
          <a:xfrm>
            <a:off x="5733288" y="3529584"/>
            <a:ext cx="2697480" cy="548640"/>
          </a:xfrm>
          <a:prstGeom prst="rect">
            <a:avLst/>
          </a:prstGeom>
          <a:noFill/>
          <a:ln/>
        </p:spPr>
        <p:txBody>
          <a:bodyPr wrap="square" lIns="0" tIns="0" rIns="0" bIns="0" rtlCol="0" anchor="ctr"/>
          <a:lstStyle/>
          <a:p>
            <a:pPr indent="0" marL="0">
              <a:lnSpc>
                <a:spcPct val="105000"/>
              </a:lnSpc>
              <a:buNone/>
            </a:pPr>
            <a:r>
              <a:rPr lang="en-US" sz="1150" dirty="0">
                <a:solidFill>
                  <a:srgbClr val="C8CBE8"/>
                </a:solidFill>
                <a:latin typeface="Calibri" pitchFamily="34" charset="0"/>
                <a:ea typeface="Calibri" pitchFamily="34" charset="-122"/>
                <a:cs typeface="Calibri" pitchFamily="34" charset="-120"/>
              </a:rPr>
              <a:t>Each defends decisions with opinion, because the evidence is out of reach.</a:t>
            </a:r>
            <a:endParaRPr lang="en-US" sz="1150" dirty="0"/>
          </a:p>
        </p:txBody>
      </p:sp>
      <p:sp>
        <p:nvSpPr>
          <p:cNvPr id="24" name="Text 18"/>
          <p:cNvSpPr/>
          <p:nvPr/>
        </p:nvSpPr>
        <p:spPr>
          <a:xfrm>
            <a:off x="548640" y="4526280"/>
            <a:ext cx="8229600" cy="41148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Everyone is busy. No one is aligned.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BLIND SPOT</a:t>
            </a:r>
            <a:endParaRPr lang="en-US" sz="1150" dirty="0"/>
          </a:p>
        </p:txBody>
      </p:sp>
      <p:sp>
        <p:nvSpPr>
          <p:cNvPr id="3" name="Text 1"/>
          <p:cNvSpPr/>
          <p:nvPr/>
        </p:nvSpPr>
        <p:spPr>
          <a:xfrm>
            <a:off x="548640" y="868680"/>
            <a:ext cx="8229600" cy="1097280"/>
          </a:xfrm>
          <a:prstGeom prst="rect">
            <a:avLst/>
          </a:prstGeom>
          <a:noFill/>
          <a:ln/>
        </p:spPr>
        <p:txBody>
          <a:bodyPr wrap="square" lIns="0" tIns="0" rIns="0" bIns="0" rtlCol="0" anchor="ctr"/>
          <a:lstStyle/>
          <a:p>
            <a:pPr indent="0" marL="0">
              <a:lnSpc>
                <a:spcPct val="104000"/>
              </a:lnSpc>
              <a:buNone/>
            </a:pPr>
            <a:r>
              <a:rPr lang="en-US" sz="3000" b="1" dirty="0">
                <a:solidFill>
                  <a:srgbClr val="FFFFFF"/>
                </a:solidFill>
                <a:latin typeface="Cambria" pitchFamily="34" charset="0"/>
                <a:ea typeface="Cambria" pitchFamily="34" charset="-122"/>
                <a:cs typeface="Cambria" pitchFamily="34" charset="-120"/>
              </a:rPr>
              <a:t>You are betting millions on claims no one can trace.</a:t>
            </a:r>
            <a:endParaRPr lang="en-US" sz="3000" dirty="0"/>
          </a:p>
        </p:txBody>
      </p:sp>
      <p:sp>
        <p:nvSpPr>
          <p:cNvPr id="4" name="Shape 2"/>
          <p:cNvSpPr/>
          <p:nvPr/>
        </p:nvSpPr>
        <p:spPr>
          <a:xfrm>
            <a:off x="566928" y="2331720"/>
            <a:ext cx="420624" cy="420624"/>
          </a:xfrm>
          <a:prstGeom prst="ellipse">
            <a:avLst/>
          </a:prstGeom>
          <a:solidFill>
            <a:srgbClr val="1E1F44"/>
          </a:solidFill>
          <a:ln/>
        </p:spPr>
      </p:sp>
      <p:pic>
        <p:nvPicPr>
          <p:cNvPr id="5" name="Image 0" descr="preencoded.png">    </p:cNvPr>
          <p:cNvPicPr>
            <a:picLocks noChangeAspect="1"/>
          </p:cNvPicPr>
          <p:nvPr/>
        </p:nvPicPr>
        <p:blipFill>
          <a:blip r:embed="rId1"/>
          <a:stretch>
            <a:fillRect/>
          </a:stretch>
        </p:blipFill>
        <p:spPr>
          <a:xfrm>
            <a:off x="676656" y="2441448"/>
            <a:ext cx="201168" cy="201168"/>
          </a:xfrm>
          <a:prstGeom prst="rect">
            <a:avLst/>
          </a:prstGeom>
        </p:spPr>
      </p:pic>
      <p:sp>
        <p:nvSpPr>
          <p:cNvPr id="6" name="Text 3"/>
          <p:cNvSpPr/>
          <p:nvPr/>
        </p:nvSpPr>
        <p:spPr>
          <a:xfrm>
            <a:off x="1170432" y="2276856"/>
            <a:ext cx="7406640" cy="548640"/>
          </a:xfrm>
          <a:prstGeom prst="rect">
            <a:avLst/>
          </a:prstGeom>
          <a:noFill/>
          <a:ln/>
        </p:spPr>
        <p:txBody>
          <a:bodyPr wrap="square" lIns="0" tIns="0" rIns="0" bIns="0" rtlCol="0" anchor="ctr"/>
          <a:lstStyle/>
          <a:p>
            <a:pPr indent="0" marL="0">
              <a:lnSpc>
                <a:spcPct val="105000"/>
              </a:lnSpc>
              <a:buNone/>
            </a:pPr>
            <a:r>
              <a:rPr lang="en-US" sz="1500" dirty="0">
                <a:solidFill>
                  <a:srgbClr val="C8CBE8"/>
                </a:solidFill>
                <a:latin typeface="Calibri" pitchFamily="34" charset="0"/>
                <a:ea typeface="Calibri" pitchFamily="34" charset="-122"/>
                <a:cs typeface="Calibri" pitchFamily="34" charset="-120"/>
              </a:rPr>
              <a:t>Every roadmap, deck, and PRD is full of confident statements about the customer.</a:t>
            </a:r>
            <a:endParaRPr lang="en-US" sz="1500" dirty="0"/>
          </a:p>
        </p:txBody>
      </p:sp>
      <p:sp>
        <p:nvSpPr>
          <p:cNvPr id="7" name="Shape 4"/>
          <p:cNvSpPr/>
          <p:nvPr/>
        </p:nvSpPr>
        <p:spPr>
          <a:xfrm>
            <a:off x="566928" y="3044952"/>
            <a:ext cx="420624" cy="420624"/>
          </a:xfrm>
          <a:prstGeom prst="ellipse">
            <a:avLst/>
          </a:prstGeom>
          <a:solidFill>
            <a:srgbClr val="1E1F44"/>
          </a:solidFill>
          <a:ln/>
        </p:spPr>
      </p:sp>
      <p:pic>
        <p:nvPicPr>
          <p:cNvPr id="8" name="Image 1" descr="preencoded.png">    </p:cNvPr>
          <p:cNvPicPr>
            <a:picLocks noChangeAspect="1"/>
          </p:cNvPicPr>
          <p:nvPr/>
        </p:nvPicPr>
        <p:blipFill>
          <a:blip r:embed="rId2"/>
          <a:stretch>
            <a:fillRect/>
          </a:stretch>
        </p:blipFill>
        <p:spPr>
          <a:xfrm>
            <a:off x="676656" y="3154680"/>
            <a:ext cx="201168" cy="201168"/>
          </a:xfrm>
          <a:prstGeom prst="rect">
            <a:avLst/>
          </a:prstGeom>
        </p:spPr>
      </p:pic>
      <p:sp>
        <p:nvSpPr>
          <p:cNvPr id="9" name="Text 5"/>
          <p:cNvSpPr/>
          <p:nvPr/>
        </p:nvSpPr>
        <p:spPr>
          <a:xfrm>
            <a:off x="1170432" y="2990088"/>
            <a:ext cx="7406640" cy="548640"/>
          </a:xfrm>
          <a:prstGeom prst="rect">
            <a:avLst/>
          </a:prstGeom>
          <a:noFill/>
          <a:ln/>
        </p:spPr>
        <p:txBody>
          <a:bodyPr wrap="square" lIns="0" tIns="0" rIns="0" bIns="0" rtlCol="0" anchor="ctr"/>
          <a:lstStyle/>
          <a:p>
            <a:pPr indent="0" marL="0">
              <a:lnSpc>
                <a:spcPct val="105000"/>
              </a:lnSpc>
              <a:buNone/>
            </a:pPr>
            <a:r>
              <a:rPr lang="en-US" sz="1500" dirty="0">
                <a:solidFill>
                  <a:srgbClr val="C8CBE8"/>
                </a:solidFill>
                <a:latin typeface="Calibri" pitchFamily="34" charset="0"/>
                <a:ea typeface="Calibri" pitchFamily="34" charset="-122"/>
                <a:cs typeface="Calibri" pitchFamily="34" charset="-120"/>
              </a:rPr>
              <a:t>Almost none of them can be walked back to a single thing a real person said.</a:t>
            </a:r>
            <a:endParaRPr lang="en-US" sz="1500" dirty="0"/>
          </a:p>
        </p:txBody>
      </p:sp>
      <p:sp>
        <p:nvSpPr>
          <p:cNvPr id="10" name="Shape 6"/>
          <p:cNvSpPr/>
          <p:nvPr/>
        </p:nvSpPr>
        <p:spPr>
          <a:xfrm>
            <a:off x="566928" y="3758184"/>
            <a:ext cx="420624" cy="420624"/>
          </a:xfrm>
          <a:prstGeom prst="ellipse">
            <a:avLst/>
          </a:prstGeom>
          <a:solidFill>
            <a:srgbClr val="1E1F44"/>
          </a:solidFill>
          <a:ln/>
        </p:spPr>
      </p:sp>
      <p:pic>
        <p:nvPicPr>
          <p:cNvPr id="11" name="Image 2" descr="preencoded.png">    </p:cNvPr>
          <p:cNvPicPr>
            <a:picLocks noChangeAspect="1"/>
          </p:cNvPicPr>
          <p:nvPr/>
        </p:nvPicPr>
        <p:blipFill>
          <a:blip r:embed="rId3"/>
          <a:stretch>
            <a:fillRect/>
          </a:stretch>
        </p:blipFill>
        <p:spPr>
          <a:xfrm>
            <a:off x="676656" y="3867912"/>
            <a:ext cx="201168" cy="201168"/>
          </a:xfrm>
          <a:prstGeom prst="rect">
            <a:avLst/>
          </a:prstGeom>
        </p:spPr>
      </p:pic>
      <p:sp>
        <p:nvSpPr>
          <p:cNvPr id="12" name="Text 7"/>
          <p:cNvSpPr/>
          <p:nvPr/>
        </p:nvSpPr>
        <p:spPr>
          <a:xfrm>
            <a:off x="1170432" y="3703320"/>
            <a:ext cx="7406640" cy="548640"/>
          </a:xfrm>
          <a:prstGeom prst="rect">
            <a:avLst/>
          </a:prstGeom>
          <a:noFill/>
          <a:ln/>
        </p:spPr>
        <p:txBody>
          <a:bodyPr wrap="square" lIns="0" tIns="0" rIns="0" bIns="0" rtlCol="0" anchor="ctr"/>
          <a:lstStyle/>
          <a:p>
            <a:pPr indent="0" marL="0">
              <a:lnSpc>
                <a:spcPct val="105000"/>
              </a:lnSpc>
              <a:buNone/>
            </a:pPr>
            <a:r>
              <a:rPr lang="en-US" sz="1500" dirty="0">
                <a:solidFill>
                  <a:srgbClr val="C8CBE8"/>
                </a:solidFill>
                <a:latin typeface="Calibri" pitchFamily="34" charset="0"/>
                <a:ea typeface="Calibri" pitchFamily="34" charset="-122"/>
                <a:cs typeface="Calibri" pitchFamily="34" charset="-120"/>
              </a:rPr>
              <a:t>The documents look finished, so no one asks. That is the expensive part.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WHY NOW</a:t>
            </a:r>
            <a:endParaRPr lang="en-US" sz="1150" dirty="0"/>
          </a:p>
        </p:txBody>
      </p:sp>
      <p:sp>
        <p:nvSpPr>
          <p:cNvPr id="3" name="Text 1"/>
          <p:cNvSpPr/>
          <p:nvPr/>
        </p:nvSpPr>
        <p:spPr>
          <a:xfrm>
            <a:off x="548640" y="841248"/>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AI did not clear the fog. It thickened it.</a:t>
            </a:r>
            <a:endParaRPr lang="en-US" sz="3200" dirty="0"/>
          </a:p>
        </p:txBody>
      </p:sp>
      <p:sp>
        <p:nvSpPr>
          <p:cNvPr id="4" name="Shape 2"/>
          <p:cNvSpPr/>
          <p:nvPr/>
        </p:nvSpPr>
        <p:spPr>
          <a:xfrm>
            <a:off x="548640" y="1828800"/>
            <a:ext cx="3886200" cy="1874520"/>
          </a:xfrm>
          <a:prstGeom prst="roundRect">
            <a:avLst>
              <a:gd name="adj" fmla="val 4878"/>
            </a:avLst>
          </a:prstGeom>
          <a:solidFill>
            <a:srgbClr val="1E1F44"/>
          </a:solidFill>
          <a:ln/>
          <a:effectLst>
            <a:outerShdw sx="100000" sy="100000" kx="0" ky="0" algn="bl" rotWithShape="0" blurRad="114300" dist="38100" dir="5400000">
              <a:srgbClr val="1A1B36">
                <a:alpha val="14000"/>
              </a:srgbClr>
            </a:outerShdw>
          </a:effectLst>
        </p:spPr>
      </p:sp>
      <p:sp>
        <p:nvSpPr>
          <p:cNvPr id="5" name="Shape 3"/>
          <p:cNvSpPr/>
          <p:nvPr/>
        </p:nvSpPr>
        <p:spPr>
          <a:xfrm>
            <a:off x="822960" y="2103120"/>
            <a:ext cx="640080" cy="640080"/>
          </a:xfrm>
          <a:prstGeom prst="ellipse">
            <a:avLst/>
          </a:prstGeom>
          <a:solidFill>
            <a:srgbClr val="6C5CE7"/>
          </a:solidFill>
          <a:ln/>
        </p:spPr>
      </p:sp>
      <p:pic>
        <p:nvPicPr>
          <p:cNvPr id="6" name="Image 0" descr="preencoded.png">    </p:cNvPr>
          <p:cNvPicPr>
            <a:picLocks noChangeAspect="1"/>
          </p:cNvPicPr>
          <p:nvPr/>
        </p:nvPicPr>
        <p:blipFill>
          <a:blip r:embed="rId1"/>
          <a:stretch>
            <a:fillRect/>
          </a:stretch>
        </p:blipFill>
        <p:spPr>
          <a:xfrm>
            <a:off x="1060704" y="2340864"/>
            <a:ext cx="164592" cy="164592"/>
          </a:xfrm>
          <a:prstGeom prst="rect">
            <a:avLst/>
          </a:prstGeom>
        </p:spPr>
      </p:pic>
      <p:sp>
        <p:nvSpPr>
          <p:cNvPr id="7" name="Text 4"/>
          <p:cNvSpPr/>
          <p:nvPr/>
        </p:nvSpPr>
        <p:spPr>
          <a:xfrm>
            <a:off x="1645920" y="212140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Confident output, in seconds</a:t>
            </a:r>
            <a:endParaRPr lang="en-US" sz="1500" dirty="0"/>
          </a:p>
        </p:txBody>
      </p:sp>
      <p:sp>
        <p:nvSpPr>
          <p:cNvPr id="8" name="Text 5"/>
          <p:cNvSpPr/>
          <p:nvPr/>
        </p:nvSpPr>
        <p:spPr>
          <a:xfrm>
            <a:off x="841248" y="2761488"/>
            <a:ext cx="3337560" cy="868680"/>
          </a:xfrm>
          <a:prstGeom prst="rect">
            <a:avLst/>
          </a:prstGeom>
          <a:noFill/>
          <a:ln/>
        </p:spPr>
        <p:txBody>
          <a:bodyPr wrap="square" lIns="0" tIns="0" rIns="0" bIns="0" rtlCol="0" anchor="ctr"/>
          <a:lstStyle/>
          <a:p>
            <a:pPr indent="0" marL="0">
              <a:lnSpc>
                <a:spcPct val="108000"/>
              </a:lnSpc>
              <a:buNone/>
            </a:pPr>
            <a:r>
              <a:rPr lang="en-US" sz="1200" dirty="0">
                <a:solidFill>
                  <a:srgbClr val="C8CBE8"/>
                </a:solidFill>
                <a:latin typeface="Calibri" pitchFamily="34" charset="0"/>
                <a:ea typeface="Calibri" pitchFamily="34" charset="-122"/>
                <a:cs typeface="Calibri" pitchFamily="34" charset="-120"/>
              </a:rPr>
              <a:t>Anyone can now generate a finished-looking insight, brief, or deck instantly. The volume of plausible content exploded.</a:t>
            </a:r>
            <a:endParaRPr lang="en-US" sz="1200" dirty="0"/>
          </a:p>
        </p:txBody>
      </p:sp>
      <p:sp>
        <p:nvSpPr>
          <p:cNvPr id="9" name="Shape 6"/>
          <p:cNvSpPr/>
          <p:nvPr/>
        </p:nvSpPr>
        <p:spPr>
          <a:xfrm>
            <a:off x="4709160" y="1828800"/>
            <a:ext cx="3886200" cy="1874520"/>
          </a:xfrm>
          <a:prstGeom prst="roundRect">
            <a:avLst>
              <a:gd name="adj" fmla="val 4878"/>
            </a:avLst>
          </a:prstGeom>
          <a:solidFill>
            <a:srgbClr val="1E1F44"/>
          </a:solidFill>
          <a:ln/>
          <a:effectLst>
            <a:outerShdw sx="100000" sy="100000" kx="0" ky="0" algn="bl" rotWithShape="0" blurRad="114300" dist="38100" dir="5400000">
              <a:srgbClr val="1A1B36">
                <a:alpha val="14000"/>
              </a:srgbClr>
            </a:outerShdw>
          </a:effectLst>
        </p:spPr>
      </p:sp>
      <p:sp>
        <p:nvSpPr>
          <p:cNvPr id="10" name="Shape 7"/>
          <p:cNvSpPr/>
          <p:nvPr/>
        </p:nvSpPr>
        <p:spPr>
          <a:xfrm>
            <a:off x="4983480" y="2103120"/>
            <a:ext cx="640080" cy="640080"/>
          </a:xfrm>
          <a:prstGeom prst="ellipse">
            <a:avLst/>
          </a:prstGeom>
          <a:solidFill>
            <a:srgbClr val="6C5CE7"/>
          </a:solidFill>
          <a:ln/>
        </p:spPr>
      </p:sp>
      <p:pic>
        <p:nvPicPr>
          <p:cNvPr id="11" name="Image 1" descr="preencoded.png">    </p:cNvPr>
          <p:cNvPicPr>
            <a:picLocks noChangeAspect="1"/>
          </p:cNvPicPr>
          <p:nvPr/>
        </p:nvPicPr>
        <p:blipFill>
          <a:blip r:embed="rId2"/>
          <a:stretch>
            <a:fillRect/>
          </a:stretch>
        </p:blipFill>
        <p:spPr>
          <a:xfrm>
            <a:off x="5221224" y="2340864"/>
            <a:ext cx="164592" cy="164592"/>
          </a:xfrm>
          <a:prstGeom prst="rect">
            <a:avLst/>
          </a:prstGeom>
        </p:spPr>
      </p:pic>
      <p:sp>
        <p:nvSpPr>
          <p:cNvPr id="12" name="Text 8"/>
          <p:cNvSpPr/>
          <p:nvPr/>
        </p:nvSpPr>
        <p:spPr>
          <a:xfrm>
            <a:off x="5806440" y="212140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Zero idea if it is true</a:t>
            </a:r>
            <a:endParaRPr lang="en-US" sz="1500" dirty="0"/>
          </a:p>
        </p:txBody>
      </p:sp>
      <p:sp>
        <p:nvSpPr>
          <p:cNvPr id="13" name="Text 9"/>
          <p:cNvSpPr/>
          <p:nvPr/>
        </p:nvSpPr>
        <p:spPr>
          <a:xfrm>
            <a:off x="5001768" y="2761488"/>
            <a:ext cx="3337560" cy="868680"/>
          </a:xfrm>
          <a:prstGeom prst="rect">
            <a:avLst/>
          </a:prstGeom>
          <a:noFill/>
          <a:ln/>
        </p:spPr>
        <p:txBody>
          <a:bodyPr wrap="square" lIns="0" tIns="0" rIns="0" bIns="0" rtlCol="0" anchor="ctr"/>
          <a:lstStyle/>
          <a:p>
            <a:pPr indent="0" marL="0">
              <a:lnSpc>
                <a:spcPct val="108000"/>
              </a:lnSpc>
              <a:buNone/>
            </a:pPr>
            <a:r>
              <a:rPr lang="en-US" sz="1200" dirty="0">
                <a:solidFill>
                  <a:srgbClr val="C8CBE8"/>
                </a:solidFill>
                <a:latin typeface="Calibri" pitchFamily="34" charset="0"/>
                <a:ea typeface="Calibri" pitchFamily="34" charset="-122"/>
                <a:cs typeface="Calibri" pitchFamily="34" charset="-120"/>
              </a:rPr>
              <a:t>None of it tells you where a claim came from, or whether a customer ever said it. Speed went up. Trust went down.</a:t>
            </a:r>
            <a:endParaRPr lang="en-US" sz="1200" dirty="0"/>
          </a:p>
        </p:txBody>
      </p:sp>
      <p:sp>
        <p:nvSpPr>
          <p:cNvPr id="14" name="Text 10"/>
          <p:cNvSpPr/>
          <p:nvPr/>
        </p:nvSpPr>
        <p:spPr>
          <a:xfrm>
            <a:off x="548640" y="4114800"/>
            <a:ext cx="8229600" cy="45720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The winner is not who generates fastest. It is who can prove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1FA97D"/>
                </a:solidFill>
                <a:latin typeface="Calibri" pitchFamily="34" charset="0"/>
                <a:ea typeface="Calibri" pitchFamily="34" charset="-122"/>
                <a:cs typeface="Calibri" pitchFamily="34" charset="-120"/>
              </a:rPr>
              <a:t>THE SHIFT</a:t>
            </a:r>
            <a:endParaRPr lang="en-US" sz="1150" dirty="0"/>
          </a:p>
        </p:txBody>
      </p:sp>
      <p:sp>
        <p:nvSpPr>
          <p:cNvPr id="3" name="Text 1"/>
          <p:cNvSpPr/>
          <p:nvPr/>
        </p:nvSpPr>
        <p:spPr>
          <a:xfrm>
            <a:off x="548640" y="109728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Not a repository. A spine.</a:t>
            </a:r>
            <a:endParaRPr lang="en-US" sz="4600" dirty="0"/>
          </a:p>
        </p:txBody>
      </p:sp>
      <p:sp>
        <p:nvSpPr>
          <p:cNvPr id="4" name="Text 2"/>
          <p:cNvSpPr/>
          <p:nvPr/>
        </p:nvSpPr>
        <p:spPr>
          <a:xfrm>
            <a:off x="566928" y="2606040"/>
            <a:ext cx="8046720" cy="1463040"/>
          </a:xfrm>
          <a:prstGeom prst="rect">
            <a:avLst/>
          </a:prstGeom>
          <a:noFill/>
          <a:ln/>
        </p:spPr>
        <p:txBody>
          <a:bodyPr wrap="square" lIns="0" tIns="0" rIns="0" bIns="0" rtlCol="0" anchor="ctr"/>
          <a:lstStyle/>
          <a:p>
            <a:pPr indent="0" marL="0">
              <a:lnSpc>
                <a:spcPct val="118000"/>
              </a:lnSpc>
              <a:buNone/>
            </a:pPr>
            <a:r>
              <a:rPr lang="en-US" sz="1700" dirty="0">
                <a:solidFill>
                  <a:srgbClr val="C8CBE8"/>
                </a:solidFill>
                <a:latin typeface="Calibri" pitchFamily="34" charset="0"/>
                <a:ea typeface="Calibri" pitchFamily="34" charset="-122"/>
                <a:cs typeface="Calibri" pitchFamily="34" charset="-120"/>
              </a:rPr>
              <a:t>One source of proof at the centre of the org. </a:t>
            </a:r>
            <a:pPr indent="0" marL="0">
              <a:lnSpc>
                <a:spcPct val="118000"/>
              </a:lnSpc>
              <a:buNone/>
            </a:pPr>
            <a:r>
              <a:rPr lang="en-US" sz="1700" b="1" dirty="0">
                <a:solidFill>
                  <a:srgbClr val="FFFFFF"/>
                </a:solidFill>
                <a:latin typeface="Calibri" pitchFamily="34" charset="0"/>
                <a:ea typeface="Calibri" pitchFamily="34" charset="-122"/>
                <a:cs typeface="Calibri" pitchFamily="34" charset="-120"/>
              </a:rPr>
              <a:t>Every team draws from it, and every artifact they ship traces straight back to it.</a:t>
            </a:r>
            <a:pPr indent="0" marL="0">
              <a:lnSpc>
                <a:spcPct val="118000"/>
              </a:lnSpc>
              <a:buNone/>
            </a:pPr>
            <a:r>
              <a:rPr lang="en-US" sz="1700" dirty="0">
                <a:solidFill>
                  <a:srgbClr val="C8CBE8"/>
                </a:solidFill>
                <a:latin typeface="Calibri" pitchFamily="34" charset="0"/>
                <a:ea typeface="Calibri" pitchFamily="34" charset="-122"/>
                <a:cs typeface="Calibri" pitchFamily="34" charset="-120"/>
              </a:rPr>
              <a:t> Shared input is a commodity. Provable lineage is the category.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700" b="1" dirty="0">
                <a:solidFill>
                  <a:srgbClr val="1A1B36"/>
                </a:solidFill>
                <a:latin typeface="Cambria" pitchFamily="34" charset="0"/>
                <a:ea typeface="Cambria" pitchFamily="34" charset="-122"/>
                <a:cs typeface="Cambria" pitchFamily="34" charset="-120"/>
              </a:rPr>
              <a:t>From one sentence to every team's work. And back.</a:t>
            </a:r>
            <a:endParaRPr lang="en-US" sz="2700" dirty="0"/>
          </a:p>
        </p:txBody>
      </p:sp>
      <p:sp>
        <p:nvSpPr>
          <p:cNvPr id="4" name="Shape 2"/>
          <p:cNvSpPr/>
          <p:nvPr/>
        </p:nvSpPr>
        <p:spPr>
          <a:xfrm>
            <a:off x="1691640" y="2212848"/>
            <a:ext cx="489204" cy="0"/>
          </a:xfrm>
          <a:prstGeom prst="line">
            <a:avLst/>
          </a:prstGeom>
          <a:noFill/>
          <a:ln w="19050">
            <a:solidFill>
              <a:srgbClr val="D7D7EA"/>
            </a:solidFill>
            <a:prstDash val="solid"/>
          </a:ln>
        </p:spPr>
      </p:sp>
      <p:sp>
        <p:nvSpPr>
          <p:cNvPr id="5" name="Shape 3"/>
          <p:cNvSpPr/>
          <p:nvPr/>
        </p:nvSpPr>
        <p:spPr>
          <a:xfrm>
            <a:off x="923544" y="1828800"/>
            <a:ext cx="768096" cy="768096"/>
          </a:xfrm>
          <a:prstGeom prst="ellipse">
            <a:avLst/>
          </a:prstGeom>
          <a:solidFill>
            <a:srgbClr val="6C5CE7"/>
          </a:solidFill>
          <a:ln/>
        </p:spPr>
      </p:sp>
      <p:pic>
        <p:nvPicPr>
          <p:cNvPr id="6" name="Image 0" descr="preencoded.png">    </p:cNvPr>
          <p:cNvPicPr>
            <a:picLocks noChangeAspect="1"/>
          </p:cNvPicPr>
          <p:nvPr/>
        </p:nvPicPr>
        <p:blipFill>
          <a:blip r:embed="rId1"/>
          <a:stretch>
            <a:fillRect/>
          </a:stretch>
        </p:blipFill>
        <p:spPr>
          <a:xfrm>
            <a:off x="1124712" y="2029968"/>
            <a:ext cx="365760" cy="365760"/>
          </a:xfrm>
          <a:prstGeom prst="rect">
            <a:avLst/>
          </a:prstGeom>
        </p:spPr>
      </p:pic>
      <p:sp>
        <p:nvSpPr>
          <p:cNvPr id="7" name="Text 4"/>
          <p:cNvSpPr/>
          <p:nvPr/>
        </p:nvSpPr>
        <p:spPr>
          <a:xfrm>
            <a:off x="548640" y="2670048"/>
            <a:ext cx="1517904" cy="320040"/>
          </a:xfrm>
          <a:prstGeom prst="rect">
            <a:avLst/>
          </a:prstGeom>
          <a:noFill/>
          <a:ln/>
        </p:spPr>
        <p:txBody>
          <a:bodyPr wrap="square" lIns="0" tIns="0" rIns="0" bIns="0" rtlCol="0" anchor="ctr"/>
          <a:lstStyle/>
          <a:p>
            <a:pPr algn="ctr" indent="0" marL="0">
              <a:buNone/>
            </a:pPr>
            <a:r>
              <a:rPr lang="en-US" sz="1350" b="1" dirty="0">
                <a:solidFill>
                  <a:srgbClr val="1A1B36"/>
                </a:solidFill>
                <a:latin typeface="Calibri" pitchFamily="34" charset="0"/>
                <a:ea typeface="Calibri" pitchFamily="34" charset="-122"/>
                <a:cs typeface="Calibri" pitchFamily="34" charset="-120"/>
              </a:rPr>
              <a:t>Source</a:t>
            </a:r>
            <a:endParaRPr lang="en-US" sz="1350" dirty="0"/>
          </a:p>
        </p:txBody>
      </p:sp>
      <p:sp>
        <p:nvSpPr>
          <p:cNvPr id="8" name="Text 5"/>
          <p:cNvSpPr/>
          <p:nvPr/>
        </p:nvSpPr>
        <p:spPr>
          <a:xfrm>
            <a:off x="411480" y="3008376"/>
            <a:ext cx="1792224" cy="822960"/>
          </a:xfrm>
          <a:prstGeom prst="rect">
            <a:avLst/>
          </a:prstGeom>
          <a:noFill/>
          <a:ln/>
        </p:spPr>
        <p:txBody>
          <a:bodyPr wrap="square" lIns="0" tIns="0" rIns="0" bIns="0" rtlCol="0" anchor="ctr"/>
          <a:lstStyle/>
          <a:p>
            <a:pPr algn="ctr" indent="0" marL="0">
              <a:lnSpc>
                <a:spcPct val="104000"/>
              </a:lnSpc>
              <a:buNone/>
            </a:pPr>
            <a:r>
              <a:rPr lang="en-US" sz="1060" dirty="0">
                <a:solidFill>
                  <a:srgbClr val="6B7280"/>
                </a:solidFill>
                <a:latin typeface="Calibri" pitchFamily="34" charset="0"/>
                <a:ea typeface="Calibri" pitchFamily="34" charset="-122"/>
                <a:cs typeface="Calibri" pitchFamily="34" charset="-120"/>
              </a:rPr>
              <a:t>The raw call, doc, or note.</a:t>
            </a:r>
            <a:endParaRPr lang="en-US" sz="1060" dirty="0"/>
          </a:p>
        </p:txBody>
      </p:sp>
      <p:sp>
        <p:nvSpPr>
          <p:cNvPr id="9" name="Shape 6"/>
          <p:cNvSpPr/>
          <p:nvPr/>
        </p:nvSpPr>
        <p:spPr>
          <a:xfrm>
            <a:off x="3323844" y="2212848"/>
            <a:ext cx="489204" cy="0"/>
          </a:xfrm>
          <a:prstGeom prst="line">
            <a:avLst/>
          </a:prstGeom>
          <a:noFill/>
          <a:ln w="19050">
            <a:solidFill>
              <a:srgbClr val="D7D7EA"/>
            </a:solidFill>
            <a:prstDash val="solid"/>
          </a:ln>
        </p:spPr>
      </p:sp>
      <p:sp>
        <p:nvSpPr>
          <p:cNvPr id="10" name="Shape 7"/>
          <p:cNvSpPr/>
          <p:nvPr/>
        </p:nvSpPr>
        <p:spPr>
          <a:xfrm>
            <a:off x="2555748" y="1828800"/>
            <a:ext cx="768096" cy="768096"/>
          </a:xfrm>
          <a:prstGeom prst="ellipse">
            <a:avLst/>
          </a:prstGeom>
          <a:solidFill>
            <a:srgbClr val="6C5CE7"/>
          </a:solidFill>
          <a:ln/>
        </p:spPr>
      </p:sp>
      <p:pic>
        <p:nvPicPr>
          <p:cNvPr id="11" name="Image 1" descr="preencoded.png">    </p:cNvPr>
          <p:cNvPicPr>
            <a:picLocks noChangeAspect="1"/>
          </p:cNvPicPr>
          <p:nvPr/>
        </p:nvPicPr>
        <p:blipFill>
          <a:blip r:embed="rId2"/>
          <a:stretch>
            <a:fillRect/>
          </a:stretch>
        </p:blipFill>
        <p:spPr>
          <a:xfrm>
            <a:off x="2756916" y="2029968"/>
            <a:ext cx="365760" cy="365760"/>
          </a:xfrm>
          <a:prstGeom prst="rect">
            <a:avLst/>
          </a:prstGeom>
        </p:spPr>
      </p:pic>
      <p:sp>
        <p:nvSpPr>
          <p:cNvPr id="12" name="Text 8"/>
          <p:cNvSpPr/>
          <p:nvPr/>
        </p:nvSpPr>
        <p:spPr>
          <a:xfrm>
            <a:off x="2180844" y="2670048"/>
            <a:ext cx="1517904" cy="320040"/>
          </a:xfrm>
          <a:prstGeom prst="rect">
            <a:avLst/>
          </a:prstGeom>
          <a:noFill/>
          <a:ln/>
        </p:spPr>
        <p:txBody>
          <a:bodyPr wrap="square" lIns="0" tIns="0" rIns="0" bIns="0" rtlCol="0" anchor="ctr"/>
          <a:lstStyle/>
          <a:p>
            <a:pPr algn="ctr" indent="0" marL="0">
              <a:buNone/>
            </a:pPr>
            <a:r>
              <a:rPr lang="en-US" sz="1350" b="1" dirty="0">
                <a:solidFill>
                  <a:srgbClr val="1A1B36"/>
                </a:solidFill>
                <a:latin typeface="Calibri" pitchFamily="34" charset="0"/>
                <a:ea typeface="Calibri" pitchFamily="34" charset="-122"/>
                <a:cs typeface="Calibri" pitchFamily="34" charset="-120"/>
              </a:rPr>
              <a:t>Evidence</a:t>
            </a:r>
            <a:endParaRPr lang="en-US" sz="1350" dirty="0"/>
          </a:p>
        </p:txBody>
      </p:sp>
      <p:sp>
        <p:nvSpPr>
          <p:cNvPr id="13" name="Text 9"/>
          <p:cNvSpPr/>
          <p:nvPr/>
        </p:nvSpPr>
        <p:spPr>
          <a:xfrm>
            <a:off x="2043684" y="3008376"/>
            <a:ext cx="1792224" cy="822960"/>
          </a:xfrm>
          <a:prstGeom prst="rect">
            <a:avLst/>
          </a:prstGeom>
          <a:noFill/>
          <a:ln/>
        </p:spPr>
        <p:txBody>
          <a:bodyPr wrap="square" lIns="0" tIns="0" rIns="0" bIns="0" rtlCol="0" anchor="ctr"/>
          <a:lstStyle/>
          <a:p>
            <a:pPr algn="ctr" indent="0" marL="0">
              <a:lnSpc>
                <a:spcPct val="104000"/>
              </a:lnSpc>
              <a:buNone/>
            </a:pPr>
            <a:r>
              <a:rPr lang="en-US" sz="1060" dirty="0">
                <a:solidFill>
                  <a:srgbClr val="6B7280"/>
                </a:solidFill>
                <a:latin typeface="Calibri" pitchFamily="34" charset="0"/>
                <a:ea typeface="Calibri" pitchFamily="34" charset="-122"/>
                <a:cs typeface="Calibri" pitchFamily="34" charset="-120"/>
              </a:rPr>
              <a:t>Each claim, tied to its exact sentence.</a:t>
            </a:r>
            <a:endParaRPr lang="en-US" sz="1060" dirty="0"/>
          </a:p>
        </p:txBody>
      </p:sp>
      <p:sp>
        <p:nvSpPr>
          <p:cNvPr id="14" name="Shape 10"/>
          <p:cNvSpPr/>
          <p:nvPr/>
        </p:nvSpPr>
        <p:spPr>
          <a:xfrm>
            <a:off x="4956048" y="2212848"/>
            <a:ext cx="489204" cy="0"/>
          </a:xfrm>
          <a:prstGeom prst="line">
            <a:avLst/>
          </a:prstGeom>
          <a:noFill/>
          <a:ln w="19050">
            <a:solidFill>
              <a:srgbClr val="D7D7EA"/>
            </a:solidFill>
            <a:prstDash val="solid"/>
          </a:ln>
        </p:spPr>
      </p:sp>
      <p:sp>
        <p:nvSpPr>
          <p:cNvPr id="15" name="Shape 11"/>
          <p:cNvSpPr/>
          <p:nvPr/>
        </p:nvSpPr>
        <p:spPr>
          <a:xfrm>
            <a:off x="4187952" y="1828800"/>
            <a:ext cx="768096" cy="768096"/>
          </a:xfrm>
          <a:prstGeom prst="ellipse">
            <a:avLst/>
          </a:prstGeom>
          <a:solidFill>
            <a:srgbClr val="6C5CE7"/>
          </a:solidFill>
          <a:ln/>
        </p:spPr>
      </p:sp>
      <p:pic>
        <p:nvPicPr>
          <p:cNvPr id="16" name="Image 2" descr="preencoded.png">    </p:cNvPr>
          <p:cNvPicPr>
            <a:picLocks noChangeAspect="1"/>
          </p:cNvPicPr>
          <p:nvPr/>
        </p:nvPicPr>
        <p:blipFill>
          <a:blip r:embed="rId3"/>
          <a:stretch>
            <a:fillRect/>
          </a:stretch>
        </p:blipFill>
        <p:spPr>
          <a:xfrm>
            <a:off x="4389120" y="2029968"/>
            <a:ext cx="365760" cy="365760"/>
          </a:xfrm>
          <a:prstGeom prst="rect">
            <a:avLst/>
          </a:prstGeom>
        </p:spPr>
      </p:pic>
      <p:sp>
        <p:nvSpPr>
          <p:cNvPr id="17" name="Text 12"/>
          <p:cNvSpPr/>
          <p:nvPr/>
        </p:nvSpPr>
        <p:spPr>
          <a:xfrm>
            <a:off x="3813048" y="2670048"/>
            <a:ext cx="1517904" cy="320040"/>
          </a:xfrm>
          <a:prstGeom prst="rect">
            <a:avLst/>
          </a:prstGeom>
          <a:noFill/>
          <a:ln/>
        </p:spPr>
        <p:txBody>
          <a:bodyPr wrap="square" lIns="0" tIns="0" rIns="0" bIns="0" rtlCol="0" anchor="ctr"/>
          <a:lstStyle/>
          <a:p>
            <a:pPr algn="ctr" indent="0" marL="0">
              <a:buNone/>
            </a:pPr>
            <a:r>
              <a:rPr lang="en-US" sz="1350" b="1" dirty="0">
                <a:solidFill>
                  <a:srgbClr val="1A1B36"/>
                </a:solidFill>
                <a:latin typeface="Calibri" pitchFamily="34" charset="0"/>
                <a:ea typeface="Calibri" pitchFamily="34" charset="-122"/>
                <a:cs typeface="Calibri" pitchFamily="34" charset="-120"/>
              </a:rPr>
              <a:t>Themes</a:t>
            </a:r>
            <a:endParaRPr lang="en-US" sz="1350" dirty="0"/>
          </a:p>
        </p:txBody>
      </p:sp>
      <p:sp>
        <p:nvSpPr>
          <p:cNvPr id="18" name="Text 13"/>
          <p:cNvSpPr/>
          <p:nvPr/>
        </p:nvSpPr>
        <p:spPr>
          <a:xfrm>
            <a:off x="3675888" y="3008376"/>
            <a:ext cx="1792224" cy="822960"/>
          </a:xfrm>
          <a:prstGeom prst="rect">
            <a:avLst/>
          </a:prstGeom>
          <a:noFill/>
          <a:ln/>
        </p:spPr>
        <p:txBody>
          <a:bodyPr wrap="square" lIns="0" tIns="0" rIns="0" bIns="0" rtlCol="0" anchor="ctr"/>
          <a:lstStyle/>
          <a:p>
            <a:pPr algn="ctr" indent="0" marL="0">
              <a:lnSpc>
                <a:spcPct val="104000"/>
              </a:lnSpc>
              <a:buNone/>
            </a:pPr>
            <a:r>
              <a:rPr lang="en-US" sz="1060" dirty="0">
                <a:solidFill>
                  <a:srgbClr val="6B7280"/>
                </a:solidFill>
                <a:latin typeface="Calibri" pitchFamily="34" charset="0"/>
                <a:ea typeface="Calibri" pitchFamily="34" charset="-122"/>
                <a:cs typeface="Calibri" pitchFamily="34" charset="-120"/>
              </a:rPr>
              <a:t>Shared meaning across sources.</a:t>
            </a:r>
            <a:endParaRPr lang="en-US" sz="1060" dirty="0"/>
          </a:p>
        </p:txBody>
      </p:sp>
      <p:sp>
        <p:nvSpPr>
          <p:cNvPr id="19" name="Shape 14"/>
          <p:cNvSpPr/>
          <p:nvPr/>
        </p:nvSpPr>
        <p:spPr>
          <a:xfrm>
            <a:off x="6588252" y="2212848"/>
            <a:ext cx="489204" cy="0"/>
          </a:xfrm>
          <a:prstGeom prst="line">
            <a:avLst/>
          </a:prstGeom>
          <a:noFill/>
          <a:ln w="19050">
            <a:solidFill>
              <a:srgbClr val="D7D7EA"/>
            </a:solidFill>
            <a:prstDash val="solid"/>
          </a:ln>
        </p:spPr>
      </p:sp>
      <p:sp>
        <p:nvSpPr>
          <p:cNvPr id="20" name="Shape 15"/>
          <p:cNvSpPr/>
          <p:nvPr/>
        </p:nvSpPr>
        <p:spPr>
          <a:xfrm>
            <a:off x="5820156" y="1828800"/>
            <a:ext cx="768096" cy="768096"/>
          </a:xfrm>
          <a:prstGeom prst="ellipse">
            <a:avLst/>
          </a:prstGeom>
          <a:solidFill>
            <a:srgbClr val="6C5CE7"/>
          </a:solidFill>
          <a:ln/>
        </p:spPr>
      </p:sp>
      <p:pic>
        <p:nvPicPr>
          <p:cNvPr id="21" name="Image 3" descr="preencoded.png">    </p:cNvPr>
          <p:cNvPicPr>
            <a:picLocks noChangeAspect="1"/>
          </p:cNvPicPr>
          <p:nvPr/>
        </p:nvPicPr>
        <p:blipFill>
          <a:blip r:embed="rId4"/>
          <a:stretch>
            <a:fillRect/>
          </a:stretch>
        </p:blipFill>
        <p:spPr>
          <a:xfrm>
            <a:off x="6021324" y="2029968"/>
            <a:ext cx="365760" cy="365760"/>
          </a:xfrm>
          <a:prstGeom prst="rect">
            <a:avLst/>
          </a:prstGeom>
        </p:spPr>
      </p:pic>
      <p:sp>
        <p:nvSpPr>
          <p:cNvPr id="22" name="Text 16"/>
          <p:cNvSpPr/>
          <p:nvPr/>
        </p:nvSpPr>
        <p:spPr>
          <a:xfrm>
            <a:off x="5445252" y="2670048"/>
            <a:ext cx="1517904" cy="320040"/>
          </a:xfrm>
          <a:prstGeom prst="rect">
            <a:avLst/>
          </a:prstGeom>
          <a:noFill/>
          <a:ln/>
        </p:spPr>
        <p:txBody>
          <a:bodyPr wrap="square" lIns="0" tIns="0" rIns="0" bIns="0" rtlCol="0" anchor="ctr"/>
          <a:lstStyle/>
          <a:p>
            <a:pPr algn="ctr" indent="0" marL="0">
              <a:buNone/>
            </a:pPr>
            <a:r>
              <a:rPr lang="en-US" sz="1350" b="1" dirty="0">
                <a:solidFill>
                  <a:srgbClr val="1A1B36"/>
                </a:solidFill>
                <a:latin typeface="Calibri" pitchFamily="34" charset="0"/>
                <a:ea typeface="Calibri" pitchFamily="34" charset="-122"/>
                <a:cs typeface="Calibri" pitchFamily="34" charset="-120"/>
              </a:rPr>
              <a:t>Problems</a:t>
            </a:r>
            <a:endParaRPr lang="en-US" sz="1350" dirty="0"/>
          </a:p>
        </p:txBody>
      </p:sp>
      <p:sp>
        <p:nvSpPr>
          <p:cNvPr id="23" name="Text 17"/>
          <p:cNvSpPr/>
          <p:nvPr/>
        </p:nvSpPr>
        <p:spPr>
          <a:xfrm>
            <a:off x="5308092" y="3008376"/>
            <a:ext cx="1792224" cy="822960"/>
          </a:xfrm>
          <a:prstGeom prst="rect">
            <a:avLst/>
          </a:prstGeom>
          <a:noFill/>
          <a:ln/>
        </p:spPr>
        <p:txBody>
          <a:bodyPr wrap="square" lIns="0" tIns="0" rIns="0" bIns="0" rtlCol="0" anchor="ctr"/>
          <a:lstStyle/>
          <a:p>
            <a:pPr algn="ctr" indent="0" marL="0">
              <a:lnSpc>
                <a:spcPct val="104000"/>
              </a:lnSpc>
              <a:buNone/>
            </a:pPr>
            <a:r>
              <a:rPr lang="en-US" sz="1060" dirty="0">
                <a:solidFill>
                  <a:srgbClr val="6B7280"/>
                </a:solidFill>
                <a:latin typeface="Calibri" pitchFamily="34" charset="0"/>
                <a:ea typeface="Calibri" pitchFamily="34" charset="-122"/>
                <a:cs typeface="Calibri" pitchFamily="34" charset="-120"/>
              </a:rPr>
              <a:t>Evidence-backed, never invented.</a:t>
            </a:r>
            <a:endParaRPr lang="en-US" sz="1060" dirty="0"/>
          </a:p>
        </p:txBody>
      </p:sp>
      <p:sp>
        <p:nvSpPr>
          <p:cNvPr id="24" name="Shape 18"/>
          <p:cNvSpPr/>
          <p:nvPr/>
        </p:nvSpPr>
        <p:spPr>
          <a:xfrm>
            <a:off x="7452360" y="1828800"/>
            <a:ext cx="768096" cy="768096"/>
          </a:xfrm>
          <a:prstGeom prst="ellipse">
            <a:avLst/>
          </a:prstGeom>
          <a:solidFill>
            <a:srgbClr val="1FA97D"/>
          </a:solidFill>
          <a:ln/>
        </p:spPr>
      </p:sp>
      <p:pic>
        <p:nvPicPr>
          <p:cNvPr id="25" name="Image 4" descr="preencoded.png">    </p:cNvPr>
          <p:cNvPicPr>
            <a:picLocks noChangeAspect="1"/>
          </p:cNvPicPr>
          <p:nvPr/>
        </p:nvPicPr>
        <p:blipFill>
          <a:blip r:embed="rId5"/>
          <a:stretch>
            <a:fillRect/>
          </a:stretch>
        </p:blipFill>
        <p:spPr>
          <a:xfrm>
            <a:off x="7653528" y="2029968"/>
            <a:ext cx="365760" cy="365760"/>
          </a:xfrm>
          <a:prstGeom prst="rect">
            <a:avLst/>
          </a:prstGeom>
        </p:spPr>
      </p:pic>
      <p:sp>
        <p:nvSpPr>
          <p:cNvPr id="26" name="Text 19"/>
          <p:cNvSpPr/>
          <p:nvPr/>
        </p:nvSpPr>
        <p:spPr>
          <a:xfrm>
            <a:off x="7077456" y="2670048"/>
            <a:ext cx="1517904" cy="320040"/>
          </a:xfrm>
          <a:prstGeom prst="rect">
            <a:avLst/>
          </a:prstGeom>
          <a:noFill/>
          <a:ln/>
        </p:spPr>
        <p:txBody>
          <a:bodyPr wrap="square" lIns="0" tIns="0" rIns="0" bIns="0" rtlCol="0" anchor="ctr"/>
          <a:lstStyle/>
          <a:p>
            <a:pPr algn="ctr" indent="0" marL="0">
              <a:buNone/>
            </a:pPr>
            <a:r>
              <a:rPr lang="en-US" sz="1350" b="1" dirty="0">
                <a:solidFill>
                  <a:srgbClr val="1A1B36"/>
                </a:solidFill>
                <a:latin typeface="Calibri" pitchFamily="34" charset="0"/>
                <a:ea typeface="Calibri" pitchFamily="34" charset="-122"/>
                <a:cs typeface="Calibri" pitchFamily="34" charset="-120"/>
              </a:rPr>
              <a:t>Every team's output</a:t>
            </a:r>
            <a:endParaRPr lang="en-US" sz="1350" dirty="0"/>
          </a:p>
        </p:txBody>
      </p:sp>
      <p:sp>
        <p:nvSpPr>
          <p:cNvPr id="27" name="Text 20"/>
          <p:cNvSpPr/>
          <p:nvPr/>
        </p:nvSpPr>
        <p:spPr>
          <a:xfrm>
            <a:off x="6940296" y="3008376"/>
            <a:ext cx="1792224" cy="822960"/>
          </a:xfrm>
          <a:prstGeom prst="rect">
            <a:avLst/>
          </a:prstGeom>
          <a:noFill/>
          <a:ln/>
        </p:spPr>
        <p:txBody>
          <a:bodyPr wrap="square" lIns="0" tIns="0" rIns="0" bIns="0" rtlCol="0" anchor="ctr"/>
          <a:lstStyle/>
          <a:p>
            <a:pPr algn="ctr" indent="0" marL="0">
              <a:lnSpc>
                <a:spcPct val="104000"/>
              </a:lnSpc>
              <a:buNone/>
            </a:pPr>
            <a:r>
              <a:rPr lang="en-US" sz="1060" dirty="0">
                <a:solidFill>
                  <a:srgbClr val="6B7280"/>
                </a:solidFill>
                <a:latin typeface="Calibri" pitchFamily="34" charset="0"/>
                <a:ea typeface="Calibri" pitchFamily="34" charset="-122"/>
                <a:cs typeface="Calibri" pitchFamily="34" charset="-120"/>
              </a:rPr>
              <a:t>Briefs, PRDs, decks. All cite-backed.</a:t>
            </a:r>
            <a:endParaRPr lang="en-US" sz="1060" dirty="0"/>
          </a:p>
        </p:txBody>
      </p:sp>
      <p:sp>
        <p:nvSpPr>
          <p:cNvPr id="28" name="Text 21"/>
          <p:cNvSpPr/>
          <p:nvPr/>
        </p:nvSpPr>
        <p:spPr>
          <a:xfrm>
            <a:off x="548640" y="4370832"/>
            <a:ext cx="8229600" cy="457200"/>
          </a:xfrm>
          <a:prstGeom prst="rect">
            <a:avLst/>
          </a:prstGeom>
          <a:noFill/>
          <a:ln/>
        </p:spPr>
        <p:txBody>
          <a:bodyPr wrap="square" lIns="0" tIns="0" rIns="0" bIns="0" rtlCol="0" anchor="ctr"/>
          <a:lstStyle/>
          <a:p>
            <a:pPr algn="ctr" indent="0" marL="0">
              <a:buNone/>
            </a:pPr>
            <a:r>
              <a:rPr lang="en-US" sz="1400" i="1" dirty="0">
                <a:solidFill>
                  <a:srgbClr val="6C5CE7"/>
                </a:solidFill>
                <a:latin typeface="Calibri" pitchFamily="34" charset="0"/>
                <a:ea typeface="Calibri" pitchFamily="34" charset="-122"/>
                <a:cs typeface="Calibri" pitchFamily="34" charset="-120"/>
              </a:rPr>
              <a:t>The arrows run both ways. Start at any output, walk it back to the quote that earned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THE PROOF</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700" b="1" dirty="0">
                <a:solidFill>
                  <a:srgbClr val="1A1B36"/>
                </a:solidFill>
                <a:latin typeface="Cambria" pitchFamily="34" charset="0"/>
                <a:ea typeface="Cambria" pitchFamily="34" charset="-122"/>
                <a:cs typeface="Cambria" pitchFamily="34" charset="-120"/>
              </a:rPr>
              <a:t>Click any claim. Meet the customer who said it.</a:t>
            </a:r>
            <a:endParaRPr lang="en-US" sz="2700" dirty="0"/>
          </a:p>
        </p:txBody>
      </p:sp>
      <p:sp>
        <p:nvSpPr>
          <p:cNvPr id="4" name="Shape 2"/>
          <p:cNvSpPr/>
          <p:nvPr/>
        </p:nvSpPr>
        <p:spPr>
          <a:xfrm>
            <a:off x="548640" y="1691640"/>
            <a:ext cx="3886200" cy="1874520"/>
          </a:xfrm>
          <a:prstGeom prst="roundRect">
            <a:avLst>
              <a:gd name="adj" fmla="val 4878"/>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5" name="Shape 3"/>
          <p:cNvSpPr/>
          <p:nvPr/>
        </p:nvSpPr>
        <p:spPr>
          <a:xfrm>
            <a:off x="841248" y="1984248"/>
            <a:ext cx="658368" cy="658368"/>
          </a:xfrm>
          <a:prstGeom prst="ellipse">
            <a:avLst/>
          </a:prstGeom>
          <a:solidFill>
            <a:srgbClr val="ECEBFC"/>
          </a:solidFill>
          <a:ln/>
        </p:spPr>
      </p:sp>
      <p:pic>
        <p:nvPicPr>
          <p:cNvPr id="6" name="Image 0" descr="preencoded.png">    </p:cNvPr>
          <p:cNvPicPr>
            <a:picLocks noChangeAspect="1"/>
          </p:cNvPicPr>
          <p:nvPr/>
        </p:nvPicPr>
        <p:blipFill>
          <a:blip r:embed="rId1"/>
          <a:stretch>
            <a:fillRect/>
          </a:stretch>
        </p:blipFill>
        <p:spPr>
          <a:xfrm>
            <a:off x="1078992" y="2221992"/>
            <a:ext cx="182880" cy="182880"/>
          </a:xfrm>
          <a:prstGeom prst="rect">
            <a:avLst/>
          </a:prstGeom>
        </p:spPr>
      </p:pic>
      <p:sp>
        <p:nvSpPr>
          <p:cNvPr id="7" name="Text 4"/>
          <p:cNvSpPr/>
          <p:nvPr/>
        </p:nvSpPr>
        <p:spPr>
          <a:xfrm>
            <a:off x="1691640" y="1938528"/>
            <a:ext cx="2560320" cy="548640"/>
          </a:xfrm>
          <a:prstGeom prst="rect">
            <a:avLst/>
          </a:prstGeom>
          <a:noFill/>
          <a:ln/>
        </p:spPr>
        <p:txBody>
          <a:bodyPr wrap="square" lIns="0" tIns="0" rIns="0" bIns="0" rtlCol="0" anchor="ctr"/>
          <a:lstStyle/>
          <a:p>
            <a:pPr indent="0" marL="0">
              <a:buNone/>
            </a:pPr>
            <a:r>
              <a:rPr lang="en-US" sz="1500" b="1" dirty="0">
                <a:solidFill>
                  <a:srgbClr val="1A1B36"/>
                </a:solidFill>
                <a:latin typeface="Calibri" pitchFamily="34" charset="0"/>
                <a:ea typeface="Calibri" pitchFamily="34" charset="-122"/>
                <a:cs typeface="Calibri" pitchFamily="34" charset="-120"/>
              </a:rPr>
              <a:t>Every claim is a live citation</a:t>
            </a:r>
            <a:endParaRPr lang="en-US" sz="1500" dirty="0"/>
          </a:p>
        </p:txBody>
      </p:sp>
      <p:sp>
        <p:nvSpPr>
          <p:cNvPr id="8" name="Text 5"/>
          <p:cNvSpPr/>
          <p:nvPr/>
        </p:nvSpPr>
        <p:spPr>
          <a:xfrm>
            <a:off x="859536" y="2670048"/>
            <a:ext cx="3310128" cy="86868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Tap any line in a document and see the exact customer quote, the person, and the source behind it.</a:t>
            </a:r>
            <a:endParaRPr lang="en-US" sz="1200" dirty="0"/>
          </a:p>
        </p:txBody>
      </p:sp>
      <p:sp>
        <p:nvSpPr>
          <p:cNvPr id="9" name="Shape 6"/>
          <p:cNvSpPr/>
          <p:nvPr/>
        </p:nvSpPr>
        <p:spPr>
          <a:xfrm>
            <a:off x="4709160" y="1691640"/>
            <a:ext cx="3886200" cy="1874520"/>
          </a:xfrm>
          <a:prstGeom prst="roundRect">
            <a:avLst>
              <a:gd name="adj" fmla="val 4878"/>
            </a:avLst>
          </a:prstGeom>
          <a:solidFill>
            <a:srgbClr val="F6FBF8"/>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0" name="Shape 7"/>
          <p:cNvSpPr/>
          <p:nvPr/>
        </p:nvSpPr>
        <p:spPr>
          <a:xfrm>
            <a:off x="5001768" y="1984248"/>
            <a:ext cx="658368" cy="658368"/>
          </a:xfrm>
          <a:prstGeom prst="ellipse">
            <a:avLst/>
          </a:prstGeom>
          <a:solidFill>
            <a:srgbClr val="E4F5EE"/>
          </a:solidFill>
          <a:ln/>
        </p:spPr>
      </p:sp>
      <p:pic>
        <p:nvPicPr>
          <p:cNvPr id="11" name="Image 1" descr="preencoded.png">    </p:cNvPr>
          <p:cNvPicPr>
            <a:picLocks noChangeAspect="1"/>
          </p:cNvPicPr>
          <p:nvPr/>
        </p:nvPicPr>
        <p:blipFill>
          <a:blip r:embed="rId2"/>
          <a:stretch>
            <a:fillRect/>
          </a:stretch>
        </p:blipFill>
        <p:spPr>
          <a:xfrm>
            <a:off x="5239512" y="2221992"/>
            <a:ext cx="182880" cy="182880"/>
          </a:xfrm>
          <a:prstGeom prst="rect">
            <a:avLst/>
          </a:prstGeom>
        </p:spPr>
      </p:pic>
      <p:sp>
        <p:nvSpPr>
          <p:cNvPr id="12" name="Text 8"/>
          <p:cNvSpPr/>
          <p:nvPr/>
        </p:nvSpPr>
        <p:spPr>
          <a:xfrm>
            <a:off x="5852160" y="1938528"/>
            <a:ext cx="2560320" cy="548640"/>
          </a:xfrm>
          <a:prstGeom prst="rect">
            <a:avLst/>
          </a:prstGeom>
          <a:noFill/>
          <a:ln/>
        </p:spPr>
        <p:txBody>
          <a:bodyPr wrap="square" lIns="0" tIns="0" rIns="0" bIns="0" rtlCol="0" anchor="ctr"/>
          <a:lstStyle/>
          <a:p>
            <a:pPr indent="0" marL="0">
              <a:buNone/>
            </a:pPr>
            <a:r>
              <a:rPr lang="en-US" sz="1500" b="1" dirty="0">
                <a:solidFill>
                  <a:srgbClr val="1A1B36"/>
                </a:solidFill>
                <a:latin typeface="Calibri" pitchFamily="34" charset="0"/>
                <a:ea typeface="Calibri" pitchFamily="34" charset="-122"/>
                <a:cs typeface="Calibri" pitchFamily="34" charset="-120"/>
              </a:rPr>
              <a:t>Confidence at a glance</a:t>
            </a:r>
            <a:endParaRPr lang="en-US" sz="1500" dirty="0"/>
          </a:p>
        </p:txBody>
      </p:sp>
      <p:sp>
        <p:nvSpPr>
          <p:cNvPr id="13" name="Text 9"/>
          <p:cNvSpPr/>
          <p:nvPr/>
        </p:nvSpPr>
        <p:spPr>
          <a:xfrm>
            <a:off x="5020056" y="2670048"/>
            <a:ext cx="3310128" cy="86868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See which sections are well-evidenced, and which are thinly supported, before you stake a decision on them.</a:t>
            </a:r>
            <a:endParaRPr lang="en-US" sz="1200" dirty="0"/>
          </a:p>
        </p:txBody>
      </p:sp>
      <p:sp>
        <p:nvSpPr>
          <p:cNvPr id="14" name="Text 10"/>
          <p:cNvSpPr/>
          <p:nvPr/>
        </p:nvSpPr>
        <p:spPr>
          <a:xfrm>
            <a:off x="548640" y="4069080"/>
            <a:ext cx="8229600" cy="457200"/>
          </a:xfrm>
          <a:prstGeom prst="rect">
            <a:avLst/>
          </a:prstGeom>
          <a:noFill/>
          <a:ln/>
        </p:spPr>
        <p:txBody>
          <a:bodyPr wrap="square" lIns="0" tIns="0" rIns="0" bIns="0" rtlCol="0" anchor="ctr"/>
          <a:lstStyle/>
          <a:p>
            <a:pPr indent="0" marL="0">
              <a:buNone/>
            </a:pPr>
            <a:r>
              <a:rPr lang="en-US" sz="1800" b="1" dirty="0">
                <a:solidFill>
                  <a:srgbClr val="1A1B36"/>
                </a:solidFill>
                <a:latin typeface="Cambria" pitchFamily="34" charset="0"/>
                <a:ea typeface="Cambria" pitchFamily="34" charset="-122"/>
                <a:cs typeface="Cambria" pitchFamily="34" charset="-120"/>
              </a:rPr>
              <a:t>The only document that can defend itself.</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6C5CE7"/>
                </a:solidFill>
                <a:latin typeface="Calibri" pitchFamily="34" charset="0"/>
                <a:ea typeface="Calibri" pitchFamily="34" charset="-122"/>
                <a:cs typeface="Calibri" pitchFamily="34" charset="-120"/>
              </a:rPr>
              <a:t>ONE WELL, EVERY SEAT</a:t>
            </a:r>
            <a:endParaRPr lang="en-US" sz="1150" dirty="0"/>
          </a:p>
        </p:txBody>
      </p:sp>
      <p:sp>
        <p:nvSpPr>
          <p:cNvPr id="3" name="Text 1"/>
          <p:cNvSpPr/>
          <p:nvPr/>
        </p:nvSpPr>
        <p:spPr>
          <a:xfrm>
            <a:off x="548640" y="804672"/>
            <a:ext cx="8229600" cy="640080"/>
          </a:xfrm>
          <a:prstGeom prst="rect">
            <a:avLst/>
          </a:prstGeom>
          <a:noFill/>
          <a:ln/>
        </p:spPr>
        <p:txBody>
          <a:bodyPr wrap="square" lIns="0" tIns="0" rIns="0" bIns="0" rtlCol="0" anchor="ctr"/>
          <a:lstStyle/>
          <a:p>
            <a:pPr indent="0" marL="0">
              <a:buNone/>
            </a:pPr>
            <a:r>
              <a:rPr lang="en-US" sz="2700" b="1" dirty="0">
                <a:solidFill>
                  <a:srgbClr val="1A1B36"/>
                </a:solidFill>
                <a:latin typeface="Cambria" pitchFamily="34" charset="0"/>
                <a:ea typeface="Cambria" pitchFamily="34" charset="-122"/>
                <a:cs typeface="Cambria" pitchFamily="34" charset="-120"/>
              </a:rPr>
              <a:t>Same evidence. Every department. All provable.</a:t>
            </a:r>
            <a:endParaRPr lang="en-US" sz="2700" dirty="0"/>
          </a:p>
        </p:txBody>
      </p:sp>
      <p:sp>
        <p:nvSpPr>
          <p:cNvPr id="4" name="Shape 2"/>
          <p:cNvSpPr/>
          <p:nvPr/>
        </p:nvSpPr>
        <p:spPr>
          <a:xfrm>
            <a:off x="548640" y="1444752"/>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5" name="Shape 3"/>
          <p:cNvSpPr/>
          <p:nvPr/>
        </p:nvSpPr>
        <p:spPr>
          <a:xfrm>
            <a:off x="786384" y="1673352"/>
            <a:ext cx="493776" cy="493776"/>
          </a:xfrm>
          <a:prstGeom prst="ellipse">
            <a:avLst/>
          </a:prstGeom>
          <a:solidFill>
            <a:srgbClr val="ECEBFC"/>
          </a:solidFill>
          <a:ln/>
        </p:spPr>
      </p:sp>
      <p:pic>
        <p:nvPicPr>
          <p:cNvPr id="6" name="Image 0" descr="preencoded.png">    </p:cNvPr>
          <p:cNvPicPr>
            <a:picLocks noChangeAspect="1"/>
          </p:cNvPicPr>
          <p:nvPr/>
        </p:nvPicPr>
        <p:blipFill>
          <a:blip r:embed="rId1"/>
          <a:stretch>
            <a:fillRect/>
          </a:stretch>
        </p:blipFill>
        <p:spPr>
          <a:xfrm>
            <a:off x="923544" y="1810512"/>
            <a:ext cx="219456" cy="219456"/>
          </a:xfrm>
          <a:prstGeom prst="rect">
            <a:avLst/>
          </a:prstGeom>
        </p:spPr>
      </p:pic>
      <p:sp>
        <p:nvSpPr>
          <p:cNvPr id="7" name="Text 4"/>
          <p:cNvSpPr/>
          <p:nvPr/>
        </p:nvSpPr>
        <p:spPr>
          <a:xfrm>
            <a:off x="1463040" y="1572768"/>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Research</a:t>
            </a:r>
            <a:endParaRPr lang="en-US" sz="1300" dirty="0"/>
          </a:p>
        </p:txBody>
      </p:sp>
      <p:sp>
        <p:nvSpPr>
          <p:cNvPr id="8" name="Text 5"/>
          <p:cNvSpPr/>
          <p:nvPr/>
        </p:nvSpPr>
        <p:spPr>
          <a:xfrm>
            <a:off x="1463040" y="1874520"/>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Auditable synthesis, traced to the raw quote.</a:t>
            </a:r>
            <a:endParaRPr lang="en-US" sz="1020" dirty="0"/>
          </a:p>
        </p:txBody>
      </p:sp>
      <p:sp>
        <p:nvSpPr>
          <p:cNvPr id="9" name="Shape 6"/>
          <p:cNvSpPr/>
          <p:nvPr/>
        </p:nvSpPr>
        <p:spPr>
          <a:xfrm>
            <a:off x="4709160" y="1444752"/>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0" name="Shape 7"/>
          <p:cNvSpPr/>
          <p:nvPr/>
        </p:nvSpPr>
        <p:spPr>
          <a:xfrm>
            <a:off x="4946904" y="1673352"/>
            <a:ext cx="493776" cy="493776"/>
          </a:xfrm>
          <a:prstGeom prst="ellipse">
            <a:avLst/>
          </a:prstGeom>
          <a:solidFill>
            <a:srgbClr val="ECEBFC"/>
          </a:solidFill>
          <a:ln/>
        </p:spPr>
      </p:sp>
      <p:pic>
        <p:nvPicPr>
          <p:cNvPr id="11" name="Image 1" descr="preencoded.png">    </p:cNvPr>
          <p:cNvPicPr>
            <a:picLocks noChangeAspect="1"/>
          </p:cNvPicPr>
          <p:nvPr/>
        </p:nvPicPr>
        <p:blipFill>
          <a:blip r:embed="rId2"/>
          <a:stretch>
            <a:fillRect/>
          </a:stretch>
        </p:blipFill>
        <p:spPr>
          <a:xfrm>
            <a:off x="5084064" y="1810512"/>
            <a:ext cx="219456" cy="219456"/>
          </a:xfrm>
          <a:prstGeom prst="rect">
            <a:avLst/>
          </a:prstGeom>
        </p:spPr>
      </p:pic>
      <p:sp>
        <p:nvSpPr>
          <p:cNvPr id="12" name="Text 8"/>
          <p:cNvSpPr/>
          <p:nvPr/>
        </p:nvSpPr>
        <p:spPr>
          <a:xfrm>
            <a:off x="5623560" y="1572768"/>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Design</a:t>
            </a:r>
            <a:endParaRPr lang="en-US" sz="1300" dirty="0"/>
          </a:p>
        </p:txBody>
      </p:sp>
      <p:sp>
        <p:nvSpPr>
          <p:cNvPr id="13" name="Text 9"/>
          <p:cNvSpPr/>
          <p:nvPr/>
        </p:nvSpPr>
        <p:spPr>
          <a:xfrm>
            <a:off x="5623560" y="1874520"/>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Direction defended with real user evidence.</a:t>
            </a:r>
            <a:endParaRPr lang="en-US" sz="1020" dirty="0"/>
          </a:p>
        </p:txBody>
      </p:sp>
      <p:sp>
        <p:nvSpPr>
          <p:cNvPr id="14" name="Shape 10"/>
          <p:cNvSpPr/>
          <p:nvPr/>
        </p:nvSpPr>
        <p:spPr>
          <a:xfrm>
            <a:off x="548640" y="2523744"/>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15" name="Shape 11"/>
          <p:cNvSpPr/>
          <p:nvPr/>
        </p:nvSpPr>
        <p:spPr>
          <a:xfrm>
            <a:off x="786384" y="2752344"/>
            <a:ext cx="493776" cy="493776"/>
          </a:xfrm>
          <a:prstGeom prst="ellipse">
            <a:avLst/>
          </a:prstGeom>
          <a:solidFill>
            <a:srgbClr val="ECEBFC"/>
          </a:solidFill>
          <a:ln/>
        </p:spPr>
      </p:sp>
      <p:pic>
        <p:nvPicPr>
          <p:cNvPr id="16" name="Image 2" descr="preencoded.png">    </p:cNvPr>
          <p:cNvPicPr>
            <a:picLocks noChangeAspect="1"/>
          </p:cNvPicPr>
          <p:nvPr/>
        </p:nvPicPr>
        <p:blipFill>
          <a:blip r:embed="rId3"/>
          <a:stretch>
            <a:fillRect/>
          </a:stretch>
        </p:blipFill>
        <p:spPr>
          <a:xfrm>
            <a:off x="923544" y="2889504"/>
            <a:ext cx="219456" cy="219456"/>
          </a:xfrm>
          <a:prstGeom prst="rect">
            <a:avLst/>
          </a:prstGeom>
        </p:spPr>
      </p:pic>
      <p:sp>
        <p:nvSpPr>
          <p:cNvPr id="17" name="Text 12"/>
          <p:cNvSpPr/>
          <p:nvPr/>
        </p:nvSpPr>
        <p:spPr>
          <a:xfrm>
            <a:off x="1463040" y="2651760"/>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Product</a:t>
            </a:r>
            <a:endParaRPr lang="en-US" sz="1300" dirty="0"/>
          </a:p>
        </p:txBody>
      </p:sp>
      <p:sp>
        <p:nvSpPr>
          <p:cNvPr id="18" name="Text 13"/>
          <p:cNvSpPr/>
          <p:nvPr/>
        </p:nvSpPr>
        <p:spPr>
          <a:xfrm>
            <a:off x="1463040" y="2953512"/>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PRDs that trace to customer truth.</a:t>
            </a:r>
            <a:endParaRPr lang="en-US" sz="1020" dirty="0"/>
          </a:p>
        </p:txBody>
      </p:sp>
      <p:sp>
        <p:nvSpPr>
          <p:cNvPr id="19" name="Shape 14"/>
          <p:cNvSpPr/>
          <p:nvPr/>
        </p:nvSpPr>
        <p:spPr>
          <a:xfrm>
            <a:off x="4709160" y="2523744"/>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20" name="Shape 15"/>
          <p:cNvSpPr/>
          <p:nvPr/>
        </p:nvSpPr>
        <p:spPr>
          <a:xfrm>
            <a:off x="4946904" y="2752344"/>
            <a:ext cx="493776" cy="493776"/>
          </a:xfrm>
          <a:prstGeom prst="ellipse">
            <a:avLst/>
          </a:prstGeom>
          <a:solidFill>
            <a:srgbClr val="ECEBFC"/>
          </a:solidFill>
          <a:ln/>
        </p:spPr>
      </p:sp>
      <p:pic>
        <p:nvPicPr>
          <p:cNvPr id="21" name="Image 3" descr="preencoded.png">    </p:cNvPr>
          <p:cNvPicPr>
            <a:picLocks noChangeAspect="1"/>
          </p:cNvPicPr>
          <p:nvPr/>
        </p:nvPicPr>
        <p:blipFill>
          <a:blip r:embed="rId4"/>
          <a:stretch>
            <a:fillRect/>
          </a:stretch>
        </p:blipFill>
        <p:spPr>
          <a:xfrm>
            <a:off x="5084064" y="2889504"/>
            <a:ext cx="219456" cy="219456"/>
          </a:xfrm>
          <a:prstGeom prst="rect">
            <a:avLst/>
          </a:prstGeom>
        </p:spPr>
      </p:pic>
      <p:sp>
        <p:nvSpPr>
          <p:cNvPr id="22" name="Text 16"/>
          <p:cNvSpPr/>
          <p:nvPr/>
        </p:nvSpPr>
        <p:spPr>
          <a:xfrm>
            <a:off x="5623560" y="2651760"/>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Sales</a:t>
            </a:r>
            <a:endParaRPr lang="en-US" sz="1300" dirty="0"/>
          </a:p>
        </p:txBody>
      </p:sp>
      <p:sp>
        <p:nvSpPr>
          <p:cNvPr id="23" name="Text 17"/>
          <p:cNvSpPr/>
          <p:nvPr/>
        </p:nvSpPr>
        <p:spPr>
          <a:xfrm>
            <a:off x="5623560" y="2953512"/>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Battlecards and objections in the customer's own words.</a:t>
            </a:r>
            <a:endParaRPr lang="en-US" sz="1020" dirty="0"/>
          </a:p>
        </p:txBody>
      </p:sp>
      <p:sp>
        <p:nvSpPr>
          <p:cNvPr id="24" name="Shape 18"/>
          <p:cNvSpPr/>
          <p:nvPr/>
        </p:nvSpPr>
        <p:spPr>
          <a:xfrm>
            <a:off x="548640" y="3602736"/>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25" name="Shape 19"/>
          <p:cNvSpPr/>
          <p:nvPr/>
        </p:nvSpPr>
        <p:spPr>
          <a:xfrm>
            <a:off x="786384" y="3831336"/>
            <a:ext cx="493776" cy="493776"/>
          </a:xfrm>
          <a:prstGeom prst="ellipse">
            <a:avLst/>
          </a:prstGeom>
          <a:solidFill>
            <a:srgbClr val="ECEBFC"/>
          </a:solidFill>
          <a:ln/>
        </p:spPr>
      </p:sp>
      <p:pic>
        <p:nvPicPr>
          <p:cNvPr id="26" name="Image 4" descr="preencoded.png">    </p:cNvPr>
          <p:cNvPicPr>
            <a:picLocks noChangeAspect="1"/>
          </p:cNvPicPr>
          <p:nvPr/>
        </p:nvPicPr>
        <p:blipFill>
          <a:blip r:embed="rId5"/>
          <a:stretch>
            <a:fillRect/>
          </a:stretch>
        </p:blipFill>
        <p:spPr>
          <a:xfrm>
            <a:off x="923544" y="3968496"/>
            <a:ext cx="219456" cy="219456"/>
          </a:xfrm>
          <a:prstGeom prst="rect">
            <a:avLst/>
          </a:prstGeom>
        </p:spPr>
      </p:pic>
      <p:sp>
        <p:nvSpPr>
          <p:cNvPr id="27" name="Text 20"/>
          <p:cNvSpPr/>
          <p:nvPr/>
        </p:nvSpPr>
        <p:spPr>
          <a:xfrm>
            <a:off x="1463040" y="3730752"/>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Customer success</a:t>
            </a:r>
            <a:endParaRPr lang="en-US" sz="1300" dirty="0"/>
          </a:p>
        </p:txBody>
      </p:sp>
      <p:sp>
        <p:nvSpPr>
          <p:cNvPr id="28" name="Text 21"/>
          <p:cNvSpPr/>
          <p:nvPr/>
        </p:nvSpPr>
        <p:spPr>
          <a:xfrm>
            <a:off x="1463040" y="4032504"/>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Churn and renewal signals from real evidence.</a:t>
            </a:r>
            <a:endParaRPr lang="en-US" sz="1020" dirty="0"/>
          </a:p>
        </p:txBody>
      </p:sp>
      <p:sp>
        <p:nvSpPr>
          <p:cNvPr id="29" name="Shape 22"/>
          <p:cNvSpPr/>
          <p:nvPr/>
        </p:nvSpPr>
        <p:spPr>
          <a:xfrm>
            <a:off x="4709160" y="3602736"/>
            <a:ext cx="3886200" cy="932688"/>
          </a:xfrm>
          <a:prstGeom prst="roundRect">
            <a:avLst>
              <a:gd name="adj" fmla="val 8824"/>
            </a:avLst>
          </a:prstGeom>
          <a:solidFill>
            <a:srgbClr val="FAFAFE"/>
          </a:solidFill>
          <a:ln w="12700">
            <a:solidFill>
              <a:srgbClr val="E7E7F1"/>
            </a:solidFill>
            <a:prstDash val="solid"/>
          </a:ln>
          <a:effectLst>
            <a:outerShdw sx="100000" sy="100000" kx="0" ky="0" algn="bl" rotWithShape="0" blurRad="114300" dist="38100" dir="5400000">
              <a:srgbClr val="1A1B36">
                <a:alpha val="14000"/>
              </a:srgbClr>
            </a:outerShdw>
          </a:effectLst>
        </p:spPr>
      </p:sp>
      <p:sp>
        <p:nvSpPr>
          <p:cNvPr id="30" name="Shape 23"/>
          <p:cNvSpPr/>
          <p:nvPr/>
        </p:nvSpPr>
        <p:spPr>
          <a:xfrm>
            <a:off x="4946904" y="3831336"/>
            <a:ext cx="493776" cy="493776"/>
          </a:xfrm>
          <a:prstGeom prst="ellipse">
            <a:avLst/>
          </a:prstGeom>
          <a:solidFill>
            <a:srgbClr val="ECEBFC"/>
          </a:solidFill>
          <a:ln/>
        </p:spPr>
      </p:sp>
      <p:pic>
        <p:nvPicPr>
          <p:cNvPr id="31" name="Image 5" descr="preencoded.png">    </p:cNvPr>
          <p:cNvPicPr>
            <a:picLocks noChangeAspect="1"/>
          </p:cNvPicPr>
          <p:nvPr/>
        </p:nvPicPr>
        <p:blipFill>
          <a:blip r:embed="rId6"/>
          <a:stretch>
            <a:fillRect/>
          </a:stretch>
        </p:blipFill>
        <p:spPr>
          <a:xfrm>
            <a:off x="5084064" y="3968496"/>
            <a:ext cx="219456" cy="219456"/>
          </a:xfrm>
          <a:prstGeom prst="rect">
            <a:avLst/>
          </a:prstGeom>
        </p:spPr>
      </p:pic>
      <p:sp>
        <p:nvSpPr>
          <p:cNvPr id="32" name="Text 24"/>
          <p:cNvSpPr/>
          <p:nvPr/>
        </p:nvSpPr>
        <p:spPr>
          <a:xfrm>
            <a:off x="5623560" y="3730752"/>
            <a:ext cx="2834640" cy="292608"/>
          </a:xfrm>
          <a:prstGeom prst="rect">
            <a:avLst/>
          </a:prstGeom>
          <a:noFill/>
          <a:ln/>
        </p:spPr>
        <p:txBody>
          <a:bodyPr wrap="square" lIns="0" tIns="0" rIns="0" bIns="0" rtlCol="0" anchor="ctr"/>
          <a:lstStyle/>
          <a:p>
            <a:pPr indent="0" marL="0">
              <a:buNone/>
            </a:pPr>
            <a:r>
              <a:rPr lang="en-US" sz="1300" b="1" dirty="0">
                <a:solidFill>
                  <a:srgbClr val="6C5CE7"/>
                </a:solidFill>
                <a:latin typeface="Calibri" pitchFamily="34" charset="0"/>
                <a:ea typeface="Calibri" pitchFamily="34" charset="-122"/>
                <a:cs typeface="Calibri" pitchFamily="34" charset="-120"/>
              </a:rPr>
              <a:t>Leadership</a:t>
            </a:r>
            <a:endParaRPr lang="en-US" sz="1300" dirty="0"/>
          </a:p>
        </p:txBody>
      </p:sp>
      <p:sp>
        <p:nvSpPr>
          <p:cNvPr id="33" name="Text 25"/>
          <p:cNvSpPr/>
          <p:nvPr/>
        </p:nvSpPr>
        <p:spPr>
          <a:xfrm>
            <a:off x="5623560" y="4032504"/>
            <a:ext cx="2852928" cy="457200"/>
          </a:xfrm>
          <a:prstGeom prst="rect">
            <a:avLst/>
          </a:prstGeom>
          <a:noFill/>
          <a:ln/>
        </p:spPr>
        <p:txBody>
          <a:bodyPr wrap="square" lIns="0" tIns="0" rIns="0" bIns="0" rtlCol="0" anchor="ctr"/>
          <a:lstStyle/>
          <a:p>
            <a:pPr indent="0" marL="0">
              <a:lnSpc>
                <a:spcPct val="102000"/>
              </a:lnSpc>
              <a:buNone/>
            </a:pPr>
            <a:r>
              <a:rPr lang="en-US" sz="1020" dirty="0">
                <a:solidFill>
                  <a:srgbClr val="1A1B36"/>
                </a:solidFill>
                <a:latin typeface="Calibri" pitchFamily="34" charset="0"/>
                <a:ea typeface="Calibri" pitchFamily="34" charset="-122"/>
                <a:cs typeface="Calibri" pitchFamily="34" charset="-120"/>
              </a:rPr>
              <a:t>Board narratives that trace to evidence, not anecdote.</a:t>
            </a:r>
            <a:endParaRPr lang="en-US" sz="1020" dirty="0"/>
          </a:p>
        </p:txBody>
      </p:sp>
      <p:sp>
        <p:nvSpPr>
          <p:cNvPr id="34" name="Text 26"/>
          <p:cNvSpPr/>
          <p:nvPr/>
        </p:nvSpPr>
        <p:spPr>
          <a:xfrm>
            <a:off x="548640" y="4736592"/>
            <a:ext cx="8229600" cy="365760"/>
          </a:xfrm>
          <a:prstGeom prst="rect">
            <a:avLst/>
          </a:prstGeom>
          <a:noFill/>
          <a:ln/>
        </p:spPr>
        <p:txBody>
          <a:bodyPr wrap="square" lIns="0" tIns="0" rIns="0" bIns="0" rtlCol="0" anchor="ctr"/>
          <a:lstStyle/>
          <a:p>
            <a:pPr indent="0" marL="0">
              <a:buNone/>
            </a:pPr>
            <a:r>
              <a:rPr lang="en-US" sz="1300" i="1" dirty="0">
                <a:solidFill>
                  <a:srgbClr val="6C5CE7"/>
                </a:solidFill>
                <a:latin typeface="Calibri" pitchFamily="34" charset="0"/>
                <a:ea typeface="Calibri" pitchFamily="34" charset="-122"/>
                <a:cs typeface="Calibri" pitchFamily="34" charset="-120"/>
              </a:rPr>
              <a:t>One well. Every seat. The same proof underneath all of them.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52E"/>
        </a:solidFill>
      </p:bgPr>
    </p:bg>
    <p:spTree>
      <p:nvGrpSpPr>
        <p:cNvPr id="1" name=""/>
        <p:cNvGrpSpPr/>
        <p:nvPr/>
      </p:nvGrpSpPr>
      <p:grpSpPr>
        <a:xfrm>
          <a:off x="0" y="0"/>
          <a:ext cx="0" cy="0"/>
          <a:chOff x="0" y="0"/>
          <a:chExt cx="0" cy="0"/>
        </a:xfrm>
      </p:grpSpPr>
      <p:sp>
        <p:nvSpPr>
          <p:cNvPr id="2" name="Text 0"/>
          <p:cNvSpPr/>
          <p:nvPr/>
        </p:nvSpPr>
        <p:spPr>
          <a:xfrm>
            <a:off x="548640" y="457200"/>
            <a:ext cx="7772400" cy="274320"/>
          </a:xfrm>
          <a:prstGeom prst="rect">
            <a:avLst/>
          </a:prstGeom>
          <a:noFill/>
          <a:ln/>
        </p:spPr>
        <p:txBody>
          <a:bodyPr wrap="square" lIns="0" tIns="0" rIns="0" bIns="0" rtlCol="0" anchor="ctr"/>
          <a:lstStyle/>
          <a:p>
            <a:pPr indent="0" marL="0">
              <a:buNone/>
            </a:pPr>
            <a:r>
              <a:rPr lang="en-US" sz="1150" b="1" spc="300" kern="0" dirty="0">
                <a:solidFill>
                  <a:srgbClr val="1FA97D"/>
                </a:solidFill>
                <a:latin typeface="Calibri" pitchFamily="34" charset="0"/>
                <a:ea typeface="Calibri" pitchFamily="34" charset="-122"/>
                <a:cs typeface="Calibri" pitchFamily="34" charset="-120"/>
              </a:rPr>
              <a:t>THE PAYOFF</a:t>
            </a:r>
            <a:endParaRPr lang="en-US" sz="1150" dirty="0"/>
          </a:p>
        </p:txBody>
      </p:sp>
      <p:sp>
        <p:nvSpPr>
          <p:cNvPr id="3" name="Text 1"/>
          <p:cNvSpPr/>
          <p:nvPr/>
        </p:nvSpPr>
        <p:spPr>
          <a:xfrm>
            <a:off x="548640" y="914400"/>
            <a:ext cx="822960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One truth, many altitudes. Exec to IC, all traceable.</a:t>
            </a:r>
            <a:endParaRPr lang="en-US" sz="3000" dirty="0"/>
          </a:p>
        </p:txBody>
      </p:sp>
      <p:sp>
        <p:nvSpPr>
          <p:cNvPr id="4" name="Text 2"/>
          <p:cNvSpPr/>
          <p:nvPr/>
        </p:nvSpPr>
        <p:spPr>
          <a:xfrm>
            <a:off x="566928" y="2286000"/>
            <a:ext cx="8229600" cy="457200"/>
          </a:xfrm>
          <a:prstGeom prst="rect">
            <a:avLst/>
          </a:prstGeom>
          <a:noFill/>
          <a:ln/>
        </p:spPr>
        <p:txBody>
          <a:bodyPr wrap="square" lIns="0" tIns="0" rIns="0" bIns="0" rtlCol="0" anchor="ctr"/>
          <a:lstStyle/>
          <a:p>
            <a:pPr indent="0" marL="0">
              <a:buNone/>
            </a:pPr>
            <a:r>
              <a:rPr lang="en-US" sz="1650" b="1" dirty="0">
                <a:solidFill>
                  <a:srgbClr val="C8CBE8"/>
                </a:solidFill>
                <a:latin typeface="Calibri" pitchFamily="34" charset="0"/>
                <a:ea typeface="Calibri" pitchFamily="34" charset="-122"/>
                <a:cs typeface="Calibri" pitchFamily="34" charset="-120"/>
              </a:rPr>
              <a:t>The whole org finally accountable to the same customer truth.</a:t>
            </a:r>
            <a:endParaRPr lang="en-US" sz="1650" dirty="0"/>
          </a:p>
        </p:txBody>
      </p:sp>
      <p:sp>
        <p:nvSpPr>
          <p:cNvPr id="5" name="Shape 3"/>
          <p:cNvSpPr/>
          <p:nvPr/>
        </p:nvSpPr>
        <p:spPr>
          <a:xfrm>
            <a:off x="54864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6" name="Shape 4"/>
          <p:cNvSpPr/>
          <p:nvPr/>
        </p:nvSpPr>
        <p:spPr>
          <a:xfrm>
            <a:off x="786384" y="3557016"/>
            <a:ext cx="384048" cy="384048"/>
          </a:xfrm>
          <a:prstGeom prst="ellipse">
            <a:avLst/>
          </a:prstGeom>
          <a:solidFill>
            <a:srgbClr val="1E1F44"/>
          </a:solidFill>
          <a:ln/>
        </p:spPr>
      </p:sp>
      <p:pic>
        <p:nvPicPr>
          <p:cNvPr id="7" name="Image 0" descr="preencoded.png">    </p:cNvPr>
          <p:cNvPicPr>
            <a:picLocks noChangeAspect="1"/>
          </p:cNvPicPr>
          <p:nvPr/>
        </p:nvPicPr>
        <p:blipFill>
          <a:blip r:embed="rId1"/>
          <a:stretch>
            <a:fillRect/>
          </a:stretch>
        </p:blipFill>
        <p:spPr>
          <a:xfrm>
            <a:off x="877824" y="3648456"/>
            <a:ext cx="201168" cy="201168"/>
          </a:xfrm>
          <a:prstGeom prst="rect">
            <a:avLst/>
          </a:prstGeom>
        </p:spPr>
      </p:pic>
      <p:sp>
        <p:nvSpPr>
          <p:cNvPr id="8" name="Text 5"/>
          <p:cNvSpPr/>
          <p:nvPr/>
        </p:nvSpPr>
        <p:spPr>
          <a:xfrm>
            <a:off x="1261872" y="3383280"/>
            <a:ext cx="1783080" cy="731520"/>
          </a:xfrm>
          <a:prstGeom prst="rect">
            <a:avLst/>
          </a:prstGeom>
          <a:noFill/>
          <a:ln/>
        </p:spPr>
        <p:txBody>
          <a:bodyPr wrap="square" lIns="0" tIns="0" rIns="0" bIns="0" rtlCol="0" anchor="ctr"/>
          <a:lstStyle/>
          <a:p>
            <a:pPr indent="0" marL="0">
              <a:lnSpc>
                <a:spcPct val="104000"/>
              </a:lnSpc>
              <a:buNone/>
            </a:pPr>
            <a:r>
              <a:rPr lang="en-US" sz="1200" b="1" dirty="0">
                <a:solidFill>
                  <a:srgbClr val="FFFFFF"/>
                </a:solidFill>
                <a:latin typeface="Calibri" pitchFamily="34" charset="0"/>
                <a:ea typeface="Calibri" pitchFamily="34" charset="-122"/>
                <a:cs typeface="Calibri" pitchFamily="34" charset="-120"/>
              </a:rPr>
              <a:t>Aligned across every team</a:t>
            </a:r>
            <a:endParaRPr lang="en-US" sz="1200" dirty="0"/>
          </a:p>
        </p:txBody>
      </p:sp>
      <p:sp>
        <p:nvSpPr>
          <p:cNvPr id="9" name="Shape 6"/>
          <p:cNvSpPr/>
          <p:nvPr/>
        </p:nvSpPr>
        <p:spPr>
          <a:xfrm>
            <a:off x="333756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10" name="Shape 7"/>
          <p:cNvSpPr/>
          <p:nvPr/>
        </p:nvSpPr>
        <p:spPr>
          <a:xfrm>
            <a:off x="3575304" y="3557016"/>
            <a:ext cx="384048" cy="384048"/>
          </a:xfrm>
          <a:prstGeom prst="ellipse">
            <a:avLst/>
          </a:prstGeom>
          <a:solidFill>
            <a:srgbClr val="1E1F44"/>
          </a:solidFill>
          <a:ln/>
        </p:spPr>
      </p:sp>
      <p:pic>
        <p:nvPicPr>
          <p:cNvPr id="11" name="Image 1" descr="preencoded.png">    </p:cNvPr>
          <p:cNvPicPr>
            <a:picLocks noChangeAspect="1"/>
          </p:cNvPicPr>
          <p:nvPr/>
        </p:nvPicPr>
        <p:blipFill>
          <a:blip r:embed="rId2"/>
          <a:stretch>
            <a:fillRect/>
          </a:stretch>
        </p:blipFill>
        <p:spPr>
          <a:xfrm>
            <a:off x="3666744" y="3648456"/>
            <a:ext cx="201168" cy="201168"/>
          </a:xfrm>
          <a:prstGeom prst="rect">
            <a:avLst/>
          </a:prstGeom>
        </p:spPr>
      </p:pic>
      <p:sp>
        <p:nvSpPr>
          <p:cNvPr id="12" name="Text 8"/>
          <p:cNvSpPr/>
          <p:nvPr/>
        </p:nvSpPr>
        <p:spPr>
          <a:xfrm>
            <a:off x="4050792" y="3383280"/>
            <a:ext cx="1783080" cy="731520"/>
          </a:xfrm>
          <a:prstGeom prst="rect">
            <a:avLst/>
          </a:prstGeom>
          <a:noFill/>
          <a:ln/>
        </p:spPr>
        <p:txBody>
          <a:bodyPr wrap="square" lIns="0" tIns="0" rIns="0" bIns="0" rtlCol="0" anchor="ctr"/>
          <a:lstStyle/>
          <a:p>
            <a:pPr indent="0" marL="0">
              <a:lnSpc>
                <a:spcPct val="104000"/>
              </a:lnSpc>
              <a:buNone/>
            </a:pPr>
            <a:r>
              <a:rPr lang="en-US" sz="1200" b="1" dirty="0">
                <a:solidFill>
                  <a:srgbClr val="FFFFFF"/>
                </a:solidFill>
                <a:latin typeface="Calibri" pitchFamily="34" charset="0"/>
                <a:ea typeface="Calibri" pitchFamily="34" charset="-122"/>
                <a:cs typeface="Calibri" pitchFamily="34" charset="-120"/>
              </a:rPr>
              <a:t>Every claim defensible on demand</a:t>
            </a:r>
            <a:endParaRPr lang="en-US" sz="1200" dirty="0"/>
          </a:p>
        </p:txBody>
      </p:sp>
      <p:sp>
        <p:nvSpPr>
          <p:cNvPr id="13" name="Shape 9"/>
          <p:cNvSpPr/>
          <p:nvPr/>
        </p:nvSpPr>
        <p:spPr>
          <a:xfrm>
            <a:off x="6126480" y="3246120"/>
            <a:ext cx="2606040" cy="1005840"/>
          </a:xfrm>
          <a:prstGeom prst="roundRect">
            <a:avLst>
              <a:gd name="adj" fmla="val 9091"/>
            </a:avLst>
          </a:prstGeom>
          <a:solidFill>
            <a:srgbClr val="1E1F44"/>
          </a:solidFill>
          <a:ln/>
          <a:effectLst>
            <a:outerShdw sx="100000" sy="100000" kx="0" ky="0" algn="bl" rotWithShape="0" blurRad="114300" dist="38100" dir="5400000">
              <a:srgbClr val="1A1B36">
                <a:alpha val="14000"/>
              </a:srgbClr>
            </a:outerShdw>
          </a:effectLst>
        </p:spPr>
      </p:sp>
      <p:sp>
        <p:nvSpPr>
          <p:cNvPr id="14" name="Shape 10"/>
          <p:cNvSpPr/>
          <p:nvPr/>
        </p:nvSpPr>
        <p:spPr>
          <a:xfrm>
            <a:off x="6364224" y="3557016"/>
            <a:ext cx="384048" cy="384048"/>
          </a:xfrm>
          <a:prstGeom prst="ellipse">
            <a:avLst/>
          </a:prstGeom>
          <a:solidFill>
            <a:srgbClr val="1E1F44"/>
          </a:solidFill>
          <a:ln/>
        </p:spPr>
      </p:sp>
      <p:pic>
        <p:nvPicPr>
          <p:cNvPr id="15" name="Image 2" descr="preencoded.png">    </p:cNvPr>
          <p:cNvPicPr>
            <a:picLocks noChangeAspect="1"/>
          </p:cNvPicPr>
          <p:nvPr/>
        </p:nvPicPr>
        <p:blipFill>
          <a:blip r:embed="rId3"/>
          <a:stretch>
            <a:fillRect/>
          </a:stretch>
        </p:blipFill>
        <p:spPr>
          <a:xfrm>
            <a:off x="6455664" y="3648456"/>
            <a:ext cx="201168" cy="201168"/>
          </a:xfrm>
          <a:prstGeom prst="rect">
            <a:avLst/>
          </a:prstGeom>
        </p:spPr>
      </p:pic>
      <p:sp>
        <p:nvSpPr>
          <p:cNvPr id="16" name="Text 11"/>
          <p:cNvSpPr/>
          <p:nvPr/>
        </p:nvSpPr>
        <p:spPr>
          <a:xfrm>
            <a:off x="6839712" y="3383280"/>
            <a:ext cx="1783080" cy="731520"/>
          </a:xfrm>
          <a:prstGeom prst="rect">
            <a:avLst/>
          </a:prstGeom>
          <a:noFill/>
          <a:ln/>
        </p:spPr>
        <p:txBody>
          <a:bodyPr wrap="square" lIns="0" tIns="0" rIns="0" bIns="0" rtlCol="0" anchor="ctr"/>
          <a:lstStyle/>
          <a:p>
            <a:pPr indent="0" marL="0">
              <a:lnSpc>
                <a:spcPct val="104000"/>
              </a:lnSpc>
              <a:buNone/>
            </a:pPr>
            <a:r>
              <a:rPr lang="en-US" sz="1200" b="1" dirty="0">
                <a:solidFill>
                  <a:srgbClr val="FFFFFF"/>
                </a:solidFill>
                <a:latin typeface="Calibri" pitchFamily="34" charset="0"/>
                <a:ea typeface="Calibri" pitchFamily="34" charset="-122"/>
                <a:cs typeface="Calibri" pitchFamily="34" charset="-120"/>
              </a:rPr>
              <a:t>Decisions that hold up under scrutiny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52E"/>
        </a:solidFill>
      </p:bgPr>
    </p:bg>
    <p:spTree>
      <p:nvGrpSpPr>
        <p:cNvPr id="1" name=""/>
        <p:cNvGrpSpPr/>
        <p:nvPr/>
      </p:nvGrpSpPr>
      <p:grpSpPr>
        <a:xfrm>
          <a:off x="0" y="0"/>
          <a:ext cx="0" cy="0"/>
          <a:chOff x="0" y="0"/>
          <a:chExt cx="0" cy="0"/>
        </a:xfrm>
      </p:grpSpPr>
      <p:sp>
        <p:nvSpPr>
          <p:cNvPr id="2" name="Shape 0"/>
          <p:cNvSpPr/>
          <p:nvPr/>
        </p:nvSpPr>
        <p:spPr>
          <a:xfrm>
            <a:off x="548640" y="502920"/>
            <a:ext cx="603504" cy="603504"/>
          </a:xfrm>
          <a:prstGeom prst="ellipse">
            <a:avLst/>
          </a:prstGeom>
          <a:solidFill>
            <a:srgbClr val="1E1F44"/>
          </a:solidFill>
          <a:ln/>
        </p:spPr>
      </p:sp>
      <p:pic>
        <p:nvPicPr>
          <p:cNvPr id="3" name="Image 0" descr="preencoded.png">    </p:cNvPr>
          <p:cNvPicPr>
            <a:picLocks noChangeAspect="1"/>
          </p:cNvPicPr>
          <p:nvPr/>
        </p:nvPicPr>
        <p:blipFill>
          <a:blip r:embed="rId1"/>
          <a:stretch>
            <a:fillRect/>
          </a:stretch>
        </p:blipFill>
        <p:spPr>
          <a:xfrm>
            <a:off x="694944" y="649224"/>
            <a:ext cx="310896" cy="310896"/>
          </a:xfrm>
          <a:prstGeom prst="rect">
            <a:avLst/>
          </a:prstGeom>
        </p:spPr>
      </p:pic>
      <p:sp>
        <p:nvSpPr>
          <p:cNvPr id="4" name="Text 1"/>
          <p:cNvSpPr/>
          <p:nvPr/>
        </p:nvSpPr>
        <p:spPr>
          <a:xfrm>
            <a:off x="1280160" y="548640"/>
            <a:ext cx="54864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DiscOS</a:t>
            </a:r>
            <a:endParaRPr lang="en-US" sz="2600" dirty="0"/>
          </a:p>
        </p:txBody>
      </p:sp>
      <p:sp>
        <p:nvSpPr>
          <p:cNvPr id="5" name="Text 2"/>
          <p:cNvSpPr/>
          <p:nvPr/>
        </p:nvSpPr>
        <p:spPr>
          <a:xfrm>
            <a:off x="548640" y="1828800"/>
            <a:ext cx="8229600" cy="1463040"/>
          </a:xfrm>
          <a:prstGeom prst="rect">
            <a:avLst/>
          </a:prstGeom>
          <a:noFill/>
          <a:ln/>
        </p:spPr>
        <p:txBody>
          <a:bodyPr wrap="square" lIns="0" tIns="0" rIns="0" bIns="0" rtlCol="0" anchor="ctr"/>
          <a:lstStyle/>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The single source of proof your whole org is accountable to.</a:t>
            </a:r>
            <a:endParaRPr lang="en-US" sz="3400" dirty="0"/>
          </a:p>
        </p:txBody>
      </p:sp>
      <p:sp>
        <p:nvSpPr>
          <p:cNvPr id="6" name="Text 3"/>
          <p:cNvSpPr/>
          <p:nvPr/>
        </p:nvSpPr>
        <p:spPr>
          <a:xfrm>
            <a:off x="566928" y="4069080"/>
            <a:ext cx="5486400" cy="365760"/>
          </a:xfrm>
          <a:prstGeom prst="rect">
            <a:avLst/>
          </a:prstGeom>
          <a:noFill/>
          <a:ln/>
        </p:spPr>
        <p:txBody>
          <a:bodyPr wrap="square" lIns="0" tIns="0" rIns="0" bIns="0" rtlCol="0" anchor="ctr"/>
          <a:lstStyle/>
          <a:p>
            <a:pPr indent="0" marL="0">
              <a:buNone/>
            </a:pPr>
            <a:r>
              <a:rPr lang="en-US" sz="1500" b="1" spc="100" kern="0" dirty="0">
                <a:solidFill>
                  <a:srgbClr val="6C5CE7"/>
                </a:solidFill>
                <a:latin typeface="Calibri" pitchFamily="34" charset="0"/>
                <a:ea typeface="Calibri" pitchFamily="34" charset="-122"/>
                <a:cs typeface="Calibri" pitchFamily="34" charset="-120"/>
              </a:rPr>
              <a:t>getdiscos.com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DiscOS — the category deck</dc:title>
  <dc:subject>PptxGenJS Presentation</dc:subject>
  <dc:creator>DiscOS</dc:creator>
  <cp:lastModifiedBy>DiscOS</cp:lastModifiedBy>
  <cp:revision>1</cp:revision>
  <dcterms:created xsi:type="dcterms:W3CDTF">2026-06-26T09:33:29Z</dcterms:created>
  <dcterms:modified xsi:type="dcterms:W3CDTF">2026-06-26T09:33:29Z</dcterms:modified>
</cp:coreProperties>
</file>